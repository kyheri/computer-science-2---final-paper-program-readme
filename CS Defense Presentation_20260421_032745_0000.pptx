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Rasputin Bold" charset="1" panose="00000000000000000000"/>
      <p:regular r:id="rId23"/>
    </p:embeddedFont>
    <p:embeddedFont>
      <p:font typeface="Codec Pro" charset="1" panose="000005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3F3EA"/>
        </a:solidFill>
      </p:bgPr>
    </p:bg>
    <p:spTree>
      <p:nvGrpSpPr>
        <p:cNvPr id="1" name=""/>
        <p:cNvGrpSpPr/>
        <p:nvPr/>
      </p:nvGrpSpPr>
      <p:grpSpPr>
        <a:xfrm>
          <a:off x="0" y="0"/>
          <a:ext cx="0" cy="0"/>
          <a:chOff x="0" y="0"/>
          <a:chExt cx="0" cy="0"/>
        </a:xfrm>
      </p:grpSpPr>
      <p:grpSp>
        <p:nvGrpSpPr>
          <p:cNvPr name="Group 2" id="2"/>
          <p:cNvGrpSpPr/>
          <p:nvPr/>
        </p:nvGrpSpPr>
        <p:grpSpPr>
          <a:xfrm rot="0">
            <a:off x="-443154" y="7789108"/>
            <a:ext cx="18731154" cy="1469192"/>
            <a:chOff x="0" y="0"/>
            <a:chExt cx="4933308" cy="386948"/>
          </a:xfrm>
        </p:grpSpPr>
        <p:sp>
          <p:nvSpPr>
            <p:cNvPr name="Freeform 3" id="3">
              <a:extLst>
                <a:ext uri="{C183D7F6-B498-43B3-948B-1728B52AA6E4}">
                  <adec:decorative xmlns:adec="http://schemas.microsoft.com/office/drawing/2017/decorative" val="1"/>
                </a:ext>
              </a:extLst>
            </p:cNvPr>
            <p:cNvSpPr/>
            <p:nvPr/>
          </p:nvSpPr>
          <p:spPr>
            <a:xfrm flipH="false" flipV="false" rot="0">
              <a:off x="0" y="0"/>
              <a:ext cx="4933308" cy="386948"/>
            </a:xfrm>
            <a:custGeom>
              <a:avLst/>
              <a:gdLst/>
              <a:ahLst/>
              <a:cxnLst/>
              <a:rect r="r" b="b" t="t" l="l"/>
              <a:pathLst>
                <a:path h="386948" w="4933308">
                  <a:moveTo>
                    <a:pt x="0" y="0"/>
                  </a:moveTo>
                  <a:lnTo>
                    <a:pt x="4933308" y="0"/>
                  </a:lnTo>
                  <a:lnTo>
                    <a:pt x="4933308" y="386948"/>
                  </a:lnTo>
                  <a:lnTo>
                    <a:pt x="0" y="386948"/>
                  </a:lnTo>
                  <a:close/>
                </a:path>
              </a:pathLst>
            </a:custGeom>
            <a:solidFill>
              <a:srgbClr val="726343"/>
            </a:solidFill>
          </p:spPr>
        </p:sp>
        <p:sp>
          <p:nvSpPr>
            <p:cNvPr name="TextBox 4" id="4"/>
            <p:cNvSpPr txBox="true"/>
            <p:nvPr/>
          </p:nvSpPr>
          <p:spPr>
            <a:xfrm>
              <a:off x="0" y="-38100"/>
              <a:ext cx="4933308" cy="425048"/>
            </a:xfrm>
            <a:prstGeom prst="rect">
              <a:avLst/>
            </a:prstGeom>
          </p:spPr>
          <p:txBody>
            <a:bodyPr anchor="ctr" rtlCol="false" tIns="50800" lIns="50800" bIns="50800" rIns="50800"/>
            <a:lstStyle/>
            <a:p>
              <a:pPr algn="ctr">
                <a:lnSpc>
                  <a:spcPts val="2659"/>
                </a:lnSpc>
              </a:pPr>
            </a:p>
          </p:txBody>
        </p:sp>
      </p:grpSp>
      <p:sp>
        <p:nvSpPr>
          <p:cNvPr name="Freeform 5" id="5">
            <a:extLst>
              <a:ext uri="{C183D7F6-B498-43B3-948B-1728B52AA6E4}">
                <adec:decorative xmlns:adec="http://schemas.microsoft.com/office/drawing/2017/decorative" val="1"/>
              </a:ext>
            </a:extLst>
          </p:cNvPr>
          <p:cNvSpPr/>
          <p:nvPr/>
        </p:nvSpPr>
        <p:spPr>
          <a:xfrm flipH="false" flipV="false" rot="0">
            <a:off x="13120817" y="7180956"/>
            <a:ext cx="3935101" cy="608152"/>
          </a:xfrm>
          <a:custGeom>
            <a:avLst/>
            <a:gdLst/>
            <a:ahLst/>
            <a:cxnLst/>
            <a:rect r="r" b="b" t="t" l="l"/>
            <a:pathLst>
              <a:path h="608152" w="3935101">
                <a:moveTo>
                  <a:pt x="0" y="0"/>
                </a:moveTo>
                <a:lnTo>
                  <a:pt x="3935101" y="0"/>
                </a:lnTo>
                <a:lnTo>
                  <a:pt x="3935101" y="608152"/>
                </a:lnTo>
                <a:lnTo>
                  <a:pt x="0" y="6081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5400000">
            <a:off x="14316843" y="-721933"/>
            <a:ext cx="3086100" cy="1543050"/>
            <a:chOff x="0" y="0"/>
            <a:chExt cx="812800" cy="406400"/>
          </a:xfrm>
        </p:grpSpPr>
        <p:sp>
          <p:nvSpPr>
            <p:cNvPr name="Freeform 7" id="7"/>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927F58"/>
            </a:solidFill>
          </p:spPr>
        </p:sp>
        <p:sp>
          <p:nvSpPr>
            <p:cNvPr name="TextBox 8" id="8"/>
            <p:cNvSpPr txBox="true"/>
            <p:nvPr/>
          </p:nvSpPr>
          <p:spPr>
            <a:xfrm>
              <a:off x="0" y="-38100"/>
              <a:ext cx="812800" cy="444500"/>
            </a:xfrm>
            <a:prstGeom prst="rect">
              <a:avLst/>
            </a:prstGeom>
          </p:spPr>
          <p:txBody>
            <a:bodyPr anchor="ctr" rtlCol="false" tIns="50800" lIns="50800" bIns="50800" rIns="50800"/>
            <a:lstStyle/>
            <a:p>
              <a:pPr algn="ctr">
                <a:lnSpc>
                  <a:spcPts val="2659"/>
                </a:lnSpc>
              </a:pPr>
            </a:p>
          </p:txBody>
        </p:sp>
      </p:grpSp>
      <p:sp>
        <p:nvSpPr>
          <p:cNvPr name="Freeform 9" id="9">
            <a:extLst>
              <a:ext uri="{C183D7F6-B498-43B3-948B-1728B52AA6E4}">
                <adec:decorative xmlns:adec="http://schemas.microsoft.com/office/drawing/2017/decorative" val="1"/>
              </a:ext>
            </a:extLst>
          </p:cNvPr>
          <p:cNvSpPr/>
          <p:nvPr/>
        </p:nvSpPr>
        <p:spPr>
          <a:xfrm flipH="false" flipV="false" rot="0">
            <a:off x="15260497" y="373123"/>
            <a:ext cx="1198791" cy="799920"/>
          </a:xfrm>
          <a:custGeom>
            <a:avLst/>
            <a:gdLst/>
            <a:ahLst/>
            <a:cxnLst/>
            <a:rect r="r" b="b" t="t" l="l"/>
            <a:pathLst>
              <a:path h="799920" w="1198791">
                <a:moveTo>
                  <a:pt x="0" y="0"/>
                </a:moveTo>
                <a:lnTo>
                  <a:pt x="1198791" y="0"/>
                </a:lnTo>
                <a:lnTo>
                  <a:pt x="1198791" y="799920"/>
                </a:lnTo>
                <a:lnTo>
                  <a:pt x="0" y="7999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a:extLst>
              <a:ext uri="{C183D7F6-B498-43B3-948B-1728B52AA6E4}">
                <adec:decorative xmlns:adec="http://schemas.microsoft.com/office/drawing/2017/decorative" val="1"/>
              </a:ext>
            </a:extLst>
          </p:cNvPr>
          <p:cNvSpPr/>
          <p:nvPr/>
        </p:nvSpPr>
        <p:spPr>
          <a:xfrm flipH="false" flipV="false" rot="0">
            <a:off x="-3449886" y="0"/>
            <a:ext cx="7491706" cy="7789108"/>
          </a:xfrm>
          <a:custGeom>
            <a:avLst/>
            <a:gdLst/>
            <a:ahLst/>
            <a:cxnLst/>
            <a:rect r="r" b="b" t="t" l="l"/>
            <a:pathLst>
              <a:path h="7789108" w="7491706">
                <a:moveTo>
                  <a:pt x="0" y="0"/>
                </a:moveTo>
                <a:lnTo>
                  <a:pt x="7491706" y="0"/>
                </a:lnTo>
                <a:lnTo>
                  <a:pt x="7491706" y="7789108"/>
                </a:lnTo>
                <a:lnTo>
                  <a:pt x="0" y="778910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563411" y="2130126"/>
            <a:ext cx="11596496" cy="3776506"/>
          </a:xfrm>
          <a:prstGeom prst="rect">
            <a:avLst/>
          </a:prstGeom>
        </p:spPr>
        <p:txBody>
          <a:bodyPr anchor="t" rtlCol="false" tIns="0" lIns="0" bIns="0" rIns="0">
            <a:spAutoFit/>
          </a:bodyPr>
          <a:lstStyle/>
          <a:p>
            <a:pPr algn="l">
              <a:lnSpc>
                <a:spcPts val="14545"/>
              </a:lnSpc>
            </a:pPr>
            <a:r>
              <a:rPr lang="en-US" sz="14401" b="true">
                <a:solidFill>
                  <a:srgbClr val="443F2B"/>
                </a:solidFill>
                <a:latin typeface="Rasputin Bold"/>
                <a:ea typeface="Rasputin Bold"/>
                <a:cs typeface="Rasputin Bold"/>
                <a:sym typeface="Rasputin Bold"/>
              </a:rPr>
              <a:t> Health</a:t>
            </a:r>
          </a:p>
          <a:p>
            <a:pPr algn="ctr">
              <a:lnSpc>
                <a:spcPts val="14545"/>
              </a:lnSpc>
            </a:pPr>
            <a:r>
              <a:rPr lang="en-US" sz="14401" b="true">
                <a:solidFill>
                  <a:srgbClr val="443F2B"/>
                </a:solidFill>
                <a:latin typeface="Rasputin Bold"/>
                <a:ea typeface="Rasputin Bold"/>
                <a:cs typeface="Rasputin Bold"/>
                <a:sym typeface="Rasputin Bold"/>
              </a:rPr>
              <a:t>Monitoring</a:t>
            </a:r>
          </a:p>
        </p:txBody>
      </p:sp>
      <p:sp>
        <p:nvSpPr>
          <p:cNvPr name="TextBox 12" id="12"/>
          <p:cNvSpPr txBox="true"/>
          <p:nvPr/>
        </p:nvSpPr>
        <p:spPr>
          <a:xfrm rot="0">
            <a:off x="12561641" y="1916684"/>
            <a:ext cx="4697659" cy="4691357"/>
          </a:xfrm>
          <a:prstGeom prst="rect">
            <a:avLst/>
          </a:prstGeom>
        </p:spPr>
        <p:txBody>
          <a:bodyPr anchor="t" rtlCol="false" tIns="0" lIns="0" bIns="0" rIns="0">
            <a:spAutoFit/>
          </a:bodyPr>
          <a:lstStyle/>
          <a:p>
            <a:pPr algn="l">
              <a:lnSpc>
                <a:spcPts val="5282"/>
              </a:lnSpc>
            </a:pPr>
            <a:r>
              <a:rPr lang="en-US" sz="3772">
                <a:solidFill>
                  <a:srgbClr val="443F2B"/>
                </a:solidFill>
                <a:latin typeface="Codec Pro"/>
                <a:ea typeface="Codec Pro"/>
                <a:cs typeface="Codec Pro"/>
                <a:sym typeface="Codec Pro"/>
              </a:rPr>
              <a:t>Members:</a:t>
            </a:r>
          </a:p>
          <a:p>
            <a:pPr algn="l">
              <a:lnSpc>
                <a:spcPts val="5282"/>
              </a:lnSpc>
            </a:pPr>
            <a:r>
              <a:rPr lang="en-US" sz="3772">
                <a:solidFill>
                  <a:srgbClr val="443F2B"/>
                </a:solidFill>
                <a:latin typeface="Codec Pro"/>
                <a:ea typeface="Codec Pro"/>
                <a:cs typeface="Codec Pro"/>
                <a:sym typeface="Codec Pro"/>
              </a:rPr>
              <a:t>Barrion, Rhyziel</a:t>
            </a:r>
          </a:p>
          <a:p>
            <a:pPr algn="l">
              <a:lnSpc>
                <a:spcPts val="5282"/>
              </a:lnSpc>
            </a:pPr>
            <a:r>
              <a:rPr lang="en-US" sz="3772">
                <a:solidFill>
                  <a:srgbClr val="443F2B"/>
                </a:solidFill>
                <a:latin typeface="Codec Pro"/>
                <a:ea typeface="Codec Pro"/>
                <a:cs typeface="Codec Pro"/>
                <a:sym typeface="Codec Pro"/>
              </a:rPr>
              <a:t>Coliyat, Lheam </a:t>
            </a:r>
          </a:p>
          <a:p>
            <a:pPr algn="l">
              <a:lnSpc>
                <a:spcPts val="5282"/>
              </a:lnSpc>
            </a:pPr>
            <a:r>
              <a:rPr lang="en-US" sz="3772">
                <a:solidFill>
                  <a:srgbClr val="443F2B"/>
                </a:solidFill>
                <a:latin typeface="Codec Pro"/>
                <a:ea typeface="Codec Pro"/>
                <a:cs typeface="Codec Pro"/>
                <a:sym typeface="Codec Pro"/>
              </a:rPr>
              <a:t>Leona, Hannah</a:t>
            </a:r>
          </a:p>
          <a:p>
            <a:pPr algn="l">
              <a:lnSpc>
                <a:spcPts val="5282"/>
              </a:lnSpc>
            </a:pPr>
            <a:r>
              <a:rPr lang="en-US" sz="3772">
                <a:solidFill>
                  <a:srgbClr val="443F2B"/>
                </a:solidFill>
                <a:latin typeface="Codec Pro"/>
                <a:ea typeface="Codec Pro"/>
                <a:cs typeface="Codec Pro"/>
                <a:sym typeface="Codec Pro"/>
              </a:rPr>
              <a:t>Minon, Hezekiah</a:t>
            </a:r>
          </a:p>
          <a:p>
            <a:pPr algn="l">
              <a:lnSpc>
                <a:spcPts val="5282"/>
              </a:lnSpc>
            </a:pPr>
            <a:r>
              <a:rPr lang="en-US" sz="3772">
                <a:solidFill>
                  <a:srgbClr val="443F2B"/>
                </a:solidFill>
                <a:latin typeface="Codec Pro"/>
                <a:ea typeface="Codec Pro"/>
                <a:cs typeface="Codec Pro"/>
                <a:sym typeface="Codec Pro"/>
              </a:rPr>
              <a:t>Reyes, Alterra</a:t>
            </a:r>
          </a:p>
          <a:p>
            <a:pPr algn="l">
              <a:lnSpc>
                <a:spcPts val="5282"/>
              </a:lnSpc>
              <a:spcBef>
                <a:spcPct val="0"/>
              </a:spcBef>
            </a:pPr>
          </a:p>
        </p:txBody>
      </p:sp>
      <p:sp>
        <p:nvSpPr>
          <p:cNvPr name="TextBox 13" id="13"/>
          <p:cNvSpPr txBox="true"/>
          <p:nvPr/>
        </p:nvSpPr>
        <p:spPr>
          <a:xfrm rot="0">
            <a:off x="1406956" y="8079204"/>
            <a:ext cx="2774982" cy="746125"/>
          </a:xfrm>
          <a:prstGeom prst="rect">
            <a:avLst/>
          </a:prstGeom>
        </p:spPr>
        <p:txBody>
          <a:bodyPr anchor="t" rtlCol="false" tIns="0" lIns="0" bIns="0" rIns="0">
            <a:spAutoFit/>
          </a:bodyPr>
          <a:lstStyle/>
          <a:p>
            <a:pPr algn="l">
              <a:lnSpc>
                <a:spcPts val="5599"/>
              </a:lnSpc>
              <a:spcBef>
                <a:spcPct val="0"/>
              </a:spcBef>
            </a:pPr>
            <a:r>
              <a:rPr lang="en-US" sz="3999">
                <a:solidFill>
                  <a:srgbClr val="F3F3EA"/>
                </a:solidFill>
                <a:latin typeface="Codec Pro"/>
                <a:ea typeface="Codec Pro"/>
                <a:cs typeface="Codec Pro"/>
                <a:sym typeface="Codec Pro"/>
              </a:rPr>
              <a:t>Group: 5</a:t>
            </a:r>
          </a:p>
        </p:txBody>
      </p:sp>
      <p:sp>
        <p:nvSpPr>
          <p:cNvPr name="TextBox 14" id="14"/>
          <p:cNvSpPr txBox="true"/>
          <p:nvPr/>
        </p:nvSpPr>
        <p:spPr>
          <a:xfrm rot="0">
            <a:off x="12128129" y="8079204"/>
            <a:ext cx="5564683" cy="746125"/>
          </a:xfrm>
          <a:prstGeom prst="rect">
            <a:avLst/>
          </a:prstGeom>
        </p:spPr>
        <p:txBody>
          <a:bodyPr anchor="t" rtlCol="false" tIns="0" lIns="0" bIns="0" rIns="0">
            <a:spAutoFit/>
          </a:bodyPr>
          <a:lstStyle/>
          <a:p>
            <a:pPr algn="l">
              <a:lnSpc>
                <a:spcPts val="5599"/>
              </a:lnSpc>
              <a:spcBef>
                <a:spcPct val="0"/>
              </a:spcBef>
            </a:pPr>
            <a:r>
              <a:rPr lang="en-US" sz="3999">
                <a:solidFill>
                  <a:srgbClr val="F3F3EA"/>
                </a:solidFill>
                <a:latin typeface="Codec Pro"/>
                <a:ea typeface="Codec Pro"/>
                <a:cs typeface="Codec Pro"/>
                <a:sym typeface="Codec Pro"/>
              </a:rPr>
              <a:t>Computer Science 2</a:t>
            </a:r>
          </a:p>
        </p:txBody>
      </p:sp>
      <p:sp>
        <p:nvSpPr>
          <p:cNvPr name="TextBox 15" id="15"/>
          <p:cNvSpPr txBox="true"/>
          <p:nvPr/>
        </p:nvSpPr>
        <p:spPr>
          <a:xfrm rot="0">
            <a:off x="6361659" y="8079204"/>
            <a:ext cx="5564683" cy="746125"/>
          </a:xfrm>
          <a:prstGeom prst="rect">
            <a:avLst/>
          </a:prstGeom>
        </p:spPr>
        <p:txBody>
          <a:bodyPr anchor="t" rtlCol="false" tIns="0" lIns="0" bIns="0" rIns="0">
            <a:spAutoFit/>
          </a:bodyPr>
          <a:lstStyle/>
          <a:p>
            <a:pPr algn="l">
              <a:lnSpc>
                <a:spcPts val="5599"/>
              </a:lnSpc>
              <a:spcBef>
                <a:spcPct val="0"/>
              </a:spcBef>
            </a:pPr>
            <a:r>
              <a:rPr lang="en-US" sz="3999">
                <a:solidFill>
                  <a:srgbClr val="F3F3EA"/>
                </a:solidFill>
                <a:latin typeface="Codec Pro"/>
                <a:ea typeface="Codec Pro"/>
                <a:cs typeface="Codec Pro"/>
                <a:sym typeface="Codec Pro"/>
              </a:rPr>
              <a:t>FINAL PROJECT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3F3EA"/>
        </a:solidFill>
      </p:bgPr>
    </p:bg>
    <p:spTree>
      <p:nvGrpSpPr>
        <p:cNvPr id="1" name=""/>
        <p:cNvGrpSpPr/>
        <p:nvPr/>
      </p:nvGrpSpPr>
      <p:grpSpPr>
        <a:xfrm>
          <a:off x="0" y="0"/>
          <a:ext cx="0" cy="0"/>
          <a:chOff x="0" y="0"/>
          <a:chExt cx="0" cy="0"/>
        </a:xfrm>
      </p:grpSpPr>
      <p:grpSp>
        <p:nvGrpSpPr>
          <p:cNvPr name="Group 2" id="2"/>
          <p:cNvGrpSpPr/>
          <p:nvPr/>
        </p:nvGrpSpPr>
        <p:grpSpPr>
          <a:xfrm rot="0">
            <a:off x="0" y="1151632"/>
            <a:ext cx="8945791" cy="1990382"/>
            <a:chOff x="0" y="0"/>
            <a:chExt cx="2356093" cy="524216"/>
          </a:xfrm>
        </p:grpSpPr>
        <p:sp>
          <p:nvSpPr>
            <p:cNvPr name="Freeform 3" id="3">
              <a:extLst>
                <a:ext uri="{C183D7F6-B498-43B3-948B-1728B52AA6E4}">
                  <adec:decorative xmlns:adec="http://schemas.microsoft.com/office/drawing/2017/decorative" val="1"/>
                </a:ext>
              </a:extLst>
            </p:cNvPr>
            <p:cNvSpPr/>
            <p:nvPr/>
          </p:nvSpPr>
          <p:spPr>
            <a:xfrm flipH="false" flipV="false" rot="0">
              <a:off x="0" y="0"/>
              <a:ext cx="2356093" cy="524216"/>
            </a:xfrm>
            <a:custGeom>
              <a:avLst/>
              <a:gdLst/>
              <a:ahLst/>
              <a:cxnLst/>
              <a:rect r="r" b="b" t="t" l="l"/>
              <a:pathLst>
                <a:path h="524216" w="2356093">
                  <a:moveTo>
                    <a:pt x="0" y="0"/>
                  </a:moveTo>
                  <a:lnTo>
                    <a:pt x="2356093" y="0"/>
                  </a:lnTo>
                  <a:lnTo>
                    <a:pt x="2356093" y="524216"/>
                  </a:lnTo>
                  <a:lnTo>
                    <a:pt x="0" y="524216"/>
                  </a:lnTo>
                  <a:close/>
                </a:path>
              </a:pathLst>
            </a:custGeom>
            <a:solidFill>
              <a:srgbClr val="726343"/>
            </a:solidFill>
          </p:spPr>
        </p:sp>
        <p:sp>
          <p:nvSpPr>
            <p:cNvPr name="TextBox 4" id="4"/>
            <p:cNvSpPr txBox="true"/>
            <p:nvPr/>
          </p:nvSpPr>
          <p:spPr>
            <a:xfrm>
              <a:off x="0" y="-38100"/>
              <a:ext cx="2356093" cy="562316"/>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5890057" y="8027346"/>
            <a:ext cx="2397943" cy="1313917"/>
            <a:chOff x="0" y="0"/>
            <a:chExt cx="631557" cy="346052"/>
          </a:xfrm>
        </p:grpSpPr>
        <p:sp>
          <p:nvSpPr>
            <p:cNvPr name="Freeform 6" id="6">
              <a:extLst>
                <a:ext uri="{C183D7F6-B498-43B3-948B-1728B52AA6E4}">
                  <adec:decorative xmlns:adec="http://schemas.microsoft.com/office/drawing/2017/decorative" val="1"/>
                </a:ext>
              </a:extLst>
            </p:cNvPr>
            <p:cNvSpPr/>
            <p:nvPr/>
          </p:nvSpPr>
          <p:spPr>
            <a:xfrm flipH="false" flipV="false" rot="0">
              <a:off x="0" y="0"/>
              <a:ext cx="631557" cy="346052"/>
            </a:xfrm>
            <a:custGeom>
              <a:avLst/>
              <a:gdLst/>
              <a:ahLst/>
              <a:cxnLst/>
              <a:rect r="r" b="b" t="t" l="l"/>
              <a:pathLst>
                <a:path h="346052" w="631557">
                  <a:moveTo>
                    <a:pt x="0" y="0"/>
                  </a:moveTo>
                  <a:lnTo>
                    <a:pt x="631557" y="0"/>
                  </a:lnTo>
                  <a:lnTo>
                    <a:pt x="631557" y="346052"/>
                  </a:lnTo>
                  <a:lnTo>
                    <a:pt x="0" y="346052"/>
                  </a:lnTo>
                  <a:close/>
                </a:path>
              </a:pathLst>
            </a:custGeom>
            <a:solidFill>
              <a:srgbClr val="CBC4AD"/>
            </a:solidFill>
          </p:spPr>
        </p:sp>
        <p:sp>
          <p:nvSpPr>
            <p:cNvPr name="TextBox 7" id="7"/>
            <p:cNvSpPr txBox="true"/>
            <p:nvPr/>
          </p:nvSpPr>
          <p:spPr>
            <a:xfrm>
              <a:off x="0" y="-38100"/>
              <a:ext cx="631557" cy="384152"/>
            </a:xfrm>
            <a:prstGeom prst="rect">
              <a:avLst/>
            </a:prstGeom>
          </p:spPr>
          <p:txBody>
            <a:bodyPr anchor="ctr" rtlCol="false" tIns="50800" lIns="50800" bIns="50800" rIns="50800"/>
            <a:lstStyle/>
            <a:p>
              <a:pPr algn="ctr">
                <a:lnSpc>
                  <a:spcPts val="2659"/>
                </a:lnSpc>
              </a:pPr>
            </a:p>
          </p:txBody>
        </p:sp>
      </p:grpSp>
      <p:sp>
        <p:nvSpPr>
          <p:cNvPr name="Freeform 8" id="8">
            <a:extLst>
              <a:ext uri="{C183D7F6-B498-43B3-948B-1728B52AA6E4}">
                <adec:decorative xmlns:adec="http://schemas.microsoft.com/office/drawing/2017/decorative" val="1"/>
              </a:ext>
            </a:extLst>
          </p:cNvPr>
          <p:cNvSpPr/>
          <p:nvPr/>
        </p:nvSpPr>
        <p:spPr>
          <a:xfrm flipH="false" flipV="false" rot="-5400000">
            <a:off x="15291750" y="2692174"/>
            <a:ext cx="3935101" cy="608152"/>
          </a:xfrm>
          <a:custGeom>
            <a:avLst/>
            <a:gdLst/>
            <a:ahLst/>
            <a:cxnLst/>
            <a:rect r="r" b="b" t="t" l="l"/>
            <a:pathLst>
              <a:path h="608152" w="3935101">
                <a:moveTo>
                  <a:pt x="0" y="0"/>
                </a:moveTo>
                <a:lnTo>
                  <a:pt x="3935100" y="0"/>
                </a:lnTo>
                <a:lnTo>
                  <a:pt x="3935100" y="608152"/>
                </a:lnTo>
                <a:lnTo>
                  <a:pt x="0" y="6081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a:extLst>
              <a:ext uri="{C183D7F6-B498-43B3-948B-1728B52AA6E4}">
                <adec:decorative xmlns:adec="http://schemas.microsoft.com/office/drawing/2017/decorative" val="1"/>
              </a:ext>
            </a:extLst>
          </p:cNvPr>
          <p:cNvSpPr/>
          <p:nvPr/>
        </p:nvSpPr>
        <p:spPr>
          <a:xfrm flipH="false" flipV="false" rot="0">
            <a:off x="-4340986" y="2146823"/>
            <a:ext cx="7936676" cy="8251743"/>
          </a:xfrm>
          <a:custGeom>
            <a:avLst/>
            <a:gdLst/>
            <a:ahLst/>
            <a:cxnLst/>
            <a:rect r="r" b="b" t="t" l="l"/>
            <a:pathLst>
              <a:path h="8251743" w="7936676">
                <a:moveTo>
                  <a:pt x="0" y="0"/>
                </a:moveTo>
                <a:lnTo>
                  <a:pt x="7936676" y="0"/>
                </a:lnTo>
                <a:lnTo>
                  <a:pt x="7936676" y="8251743"/>
                </a:lnTo>
                <a:lnTo>
                  <a:pt x="0" y="825174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6080514" y="1151632"/>
            <a:ext cx="8945791" cy="1990382"/>
            <a:chOff x="0" y="0"/>
            <a:chExt cx="2356093" cy="524216"/>
          </a:xfrm>
        </p:grpSpPr>
        <p:sp>
          <p:nvSpPr>
            <p:cNvPr name="Freeform 11" id="11">
              <a:extLst>
                <a:ext uri="{C183D7F6-B498-43B3-948B-1728B52AA6E4}">
                  <adec:decorative xmlns:adec="http://schemas.microsoft.com/office/drawing/2017/decorative" val="1"/>
                </a:ext>
              </a:extLst>
            </p:cNvPr>
            <p:cNvSpPr/>
            <p:nvPr/>
          </p:nvSpPr>
          <p:spPr>
            <a:xfrm flipH="false" flipV="false" rot="0">
              <a:off x="0" y="0"/>
              <a:ext cx="2356093" cy="524216"/>
            </a:xfrm>
            <a:custGeom>
              <a:avLst/>
              <a:gdLst/>
              <a:ahLst/>
              <a:cxnLst/>
              <a:rect r="r" b="b" t="t" l="l"/>
              <a:pathLst>
                <a:path h="524216" w="2356093">
                  <a:moveTo>
                    <a:pt x="0" y="0"/>
                  </a:moveTo>
                  <a:lnTo>
                    <a:pt x="2356093" y="0"/>
                  </a:lnTo>
                  <a:lnTo>
                    <a:pt x="2356093" y="524216"/>
                  </a:lnTo>
                  <a:lnTo>
                    <a:pt x="0" y="524216"/>
                  </a:lnTo>
                  <a:close/>
                </a:path>
              </a:pathLst>
            </a:custGeom>
            <a:solidFill>
              <a:srgbClr val="726343"/>
            </a:solidFill>
          </p:spPr>
        </p:sp>
        <p:sp>
          <p:nvSpPr>
            <p:cNvPr name="TextBox 12" id="12"/>
            <p:cNvSpPr txBox="true"/>
            <p:nvPr/>
          </p:nvSpPr>
          <p:spPr>
            <a:xfrm>
              <a:off x="0" y="-38100"/>
              <a:ext cx="2356093" cy="562316"/>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1573103" y="1469378"/>
            <a:ext cx="12824968" cy="1212014"/>
          </a:xfrm>
          <a:prstGeom prst="rect">
            <a:avLst/>
          </a:prstGeom>
        </p:spPr>
        <p:txBody>
          <a:bodyPr anchor="t" rtlCol="false" tIns="0" lIns="0" bIns="0" rIns="0">
            <a:spAutoFit/>
          </a:bodyPr>
          <a:lstStyle/>
          <a:p>
            <a:pPr algn="l">
              <a:lnSpc>
                <a:spcPts val="9846"/>
              </a:lnSpc>
              <a:spcBef>
                <a:spcPct val="0"/>
              </a:spcBef>
            </a:pPr>
            <a:r>
              <a:rPr lang="en-US" sz="7032" b="true">
                <a:solidFill>
                  <a:srgbClr val="F3F3EA"/>
                </a:solidFill>
                <a:latin typeface="Rasputin Bold"/>
                <a:ea typeface="Rasputin Bold"/>
                <a:cs typeface="Rasputin Bold"/>
                <a:sym typeface="Rasputin Bold"/>
              </a:rPr>
              <a:t>PROBLEM STATEMENT</a:t>
            </a:r>
          </a:p>
        </p:txBody>
      </p:sp>
      <p:sp>
        <p:nvSpPr>
          <p:cNvPr name="TextBox 14" id="14"/>
          <p:cNvSpPr txBox="true"/>
          <p:nvPr/>
        </p:nvSpPr>
        <p:spPr>
          <a:xfrm rot="0">
            <a:off x="16269765" y="7960405"/>
            <a:ext cx="1530457" cy="1295400"/>
          </a:xfrm>
          <a:prstGeom prst="rect">
            <a:avLst/>
          </a:prstGeom>
        </p:spPr>
        <p:txBody>
          <a:bodyPr anchor="t" rtlCol="false" tIns="0" lIns="0" bIns="0" rIns="0">
            <a:spAutoFit/>
          </a:bodyPr>
          <a:lstStyle/>
          <a:p>
            <a:pPr algn="ctr">
              <a:lnSpc>
                <a:spcPts val="10500"/>
              </a:lnSpc>
              <a:spcBef>
                <a:spcPct val="0"/>
              </a:spcBef>
            </a:pPr>
            <a:r>
              <a:rPr lang="en-US" b="true" sz="7500">
                <a:solidFill>
                  <a:srgbClr val="F3F3EA"/>
                </a:solidFill>
                <a:latin typeface="Rasputin Bold"/>
                <a:ea typeface="Rasputin Bold"/>
                <a:cs typeface="Rasputin Bold"/>
                <a:sym typeface="Rasputin Bold"/>
              </a:rPr>
              <a:t>01</a:t>
            </a:r>
          </a:p>
        </p:txBody>
      </p:sp>
      <p:grpSp>
        <p:nvGrpSpPr>
          <p:cNvPr name="Group 15" id="15"/>
          <p:cNvGrpSpPr/>
          <p:nvPr/>
        </p:nvGrpSpPr>
        <p:grpSpPr>
          <a:xfrm rot="0">
            <a:off x="12082434" y="9255805"/>
            <a:ext cx="2943871" cy="294387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2C9A9"/>
            </a:solidFill>
          </p:spPr>
        </p:sp>
        <p:sp>
          <p:nvSpPr>
            <p:cNvPr name="TextBox 17" id="17"/>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2413143" y="3446814"/>
            <a:ext cx="13065295" cy="6235700"/>
          </a:xfrm>
          <a:prstGeom prst="rect">
            <a:avLst/>
          </a:prstGeom>
        </p:spPr>
        <p:txBody>
          <a:bodyPr anchor="t" rtlCol="false" tIns="0" lIns="0" bIns="0" rIns="0">
            <a:spAutoFit/>
          </a:bodyPr>
          <a:lstStyle/>
          <a:p>
            <a:pPr algn="just">
              <a:lnSpc>
                <a:spcPts val="4900"/>
              </a:lnSpc>
              <a:spcBef>
                <a:spcPct val="0"/>
              </a:spcBef>
            </a:pPr>
            <a:r>
              <a:rPr lang="en-US" sz="3500">
                <a:solidFill>
                  <a:srgbClr val="443F2B"/>
                </a:solidFill>
                <a:latin typeface="Codec Pro"/>
                <a:ea typeface="Codec Pro"/>
                <a:cs typeface="Codec Pro"/>
                <a:sym typeface="Codec Pro"/>
              </a:rPr>
              <a:t>It is common for individuals to come across lab and/or medical results, but do they understand what those results mean? Results often appear in numerical values, which could be easily understood by health professionals but difficult for the individual. This leads to the individual becoming prone to fail to recognize any potential dangers and risks about their health condition, potentially delaying medical consultations. Warning signs easily become serious health complications when the individual continues to be unaware about what their results mean.</a:t>
            </a:r>
          </a:p>
        </p:txBody>
      </p:sp>
      <p:grpSp>
        <p:nvGrpSpPr>
          <p:cNvPr name="Group 19" id="19"/>
          <p:cNvGrpSpPr/>
          <p:nvPr/>
        </p:nvGrpSpPr>
        <p:grpSpPr>
          <a:xfrm rot="0">
            <a:off x="651819" y="-2227443"/>
            <a:ext cx="2943871" cy="2943871"/>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2C9A9"/>
            </a:solidFill>
          </p:spPr>
        </p:sp>
        <p:sp>
          <p:nvSpPr>
            <p:cNvPr name="TextBox 21" id="21"/>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Tree>
  </p:cSld>
  <p:clrMapOvr>
    <a:masterClrMapping/>
  </p:clrMapOvr>
  <p:transition spd="fast">
    <p:cover dir="l"/>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3F3EA"/>
        </a:solidFill>
      </p:bgPr>
    </p:bg>
    <p:spTree>
      <p:nvGrpSpPr>
        <p:cNvPr id="1" name=""/>
        <p:cNvGrpSpPr/>
        <p:nvPr/>
      </p:nvGrpSpPr>
      <p:grpSpPr>
        <a:xfrm>
          <a:off x="0" y="0"/>
          <a:ext cx="0" cy="0"/>
          <a:chOff x="0" y="0"/>
          <a:chExt cx="0" cy="0"/>
        </a:xfrm>
      </p:grpSpPr>
      <p:grpSp>
        <p:nvGrpSpPr>
          <p:cNvPr name="Group 2" id="2"/>
          <p:cNvGrpSpPr/>
          <p:nvPr/>
        </p:nvGrpSpPr>
        <p:grpSpPr>
          <a:xfrm rot="0">
            <a:off x="0" y="961271"/>
            <a:ext cx="18288000" cy="2078792"/>
            <a:chOff x="0" y="0"/>
            <a:chExt cx="4816593" cy="547501"/>
          </a:xfrm>
        </p:grpSpPr>
        <p:sp>
          <p:nvSpPr>
            <p:cNvPr name="Freeform 3" id="3">
              <a:extLst>
                <a:ext uri="{C183D7F6-B498-43B3-948B-1728B52AA6E4}">
                  <adec:decorative xmlns:adec="http://schemas.microsoft.com/office/drawing/2017/decorative" val="1"/>
                </a:ext>
              </a:extLst>
            </p:cNvPr>
            <p:cNvSpPr/>
            <p:nvPr/>
          </p:nvSpPr>
          <p:spPr>
            <a:xfrm flipH="false" flipV="false" rot="0">
              <a:off x="0" y="0"/>
              <a:ext cx="4816592" cy="547501"/>
            </a:xfrm>
            <a:custGeom>
              <a:avLst/>
              <a:gdLst/>
              <a:ahLst/>
              <a:cxnLst/>
              <a:rect r="r" b="b" t="t" l="l"/>
              <a:pathLst>
                <a:path h="547501" w="4816592">
                  <a:moveTo>
                    <a:pt x="0" y="0"/>
                  </a:moveTo>
                  <a:lnTo>
                    <a:pt x="4816592" y="0"/>
                  </a:lnTo>
                  <a:lnTo>
                    <a:pt x="4816592" y="547501"/>
                  </a:lnTo>
                  <a:lnTo>
                    <a:pt x="0" y="547501"/>
                  </a:lnTo>
                  <a:close/>
                </a:path>
              </a:pathLst>
            </a:custGeom>
            <a:solidFill>
              <a:srgbClr val="726343"/>
            </a:solidFill>
          </p:spPr>
        </p:sp>
        <p:sp>
          <p:nvSpPr>
            <p:cNvPr name="TextBox 4" id="4"/>
            <p:cNvSpPr txBox="true"/>
            <p:nvPr/>
          </p:nvSpPr>
          <p:spPr>
            <a:xfrm>
              <a:off x="0" y="-38100"/>
              <a:ext cx="4816593" cy="585601"/>
            </a:xfrm>
            <a:prstGeom prst="rect">
              <a:avLst/>
            </a:prstGeom>
          </p:spPr>
          <p:txBody>
            <a:bodyPr anchor="ctr" rtlCol="false" tIns="50800" lIns="50800" bIns="50800" rIns="50800"/>
            <a:lstStyle/>
            <a:p>
              <a:pPr algn="ctr">
                <a:lnSpc>
                  <a:spcPts val="2659"/>
                </a:lnSpc>
              </a:pPr>
            </a:p>
          </p:txBody>
        </p:sp>
      </p:grpSp>
      <p:sp>
        <p:nvSpPr>
          <p:cNvPr name="Freeform 5" id="5">
            <a:extLst>
              <a:ext uri="{C183D7F6-B498-43B3-948B-1728B52AA6E4}">
                <adec:decorative xmlns:adec="http://schemas.microsoft.com/office/drawing/2017/decorative" val="1"/>
              </a:ext>
            </a:extLst>
          </p:cNvPr>
          <p:cNvSpPr/>
          <p:nvPr/>
        </p:nvSpPr>
        <p:spPr>
          <a:xfrm flipH="false" flipV="false" rot="0">
            <a:off x="-5247337" y="1151632"/>
            <a:ext cx="8786563" cy="9135368"/>
          </a:xfrm>
          <a:custGeom>
            <a:avLst/>
            <a:gdLst/>
            <a:ahLst/>
            <a:cxnLst/>
            <a:rect r="r" b="b" t="t" l="l"/>
            <a:pathLst>
              <a:path h="9135368" w="8786563">
                <a:moveTo>
                  <a:pt x="0" y="0"/>
                </a:moveTo>
                <a:lnTo>
                  <a:pt x="8786563" y="0"/>
                </a:lnTo>
                <a:lnTo>
                  <a:pt x="8786563" y="9135368"/>
                </a:lnTo>
                <a:lnTo>
                  <a:pt x="0" y="91353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499763" y="1463978"/>
            <a:ext cx="16199746" cy="1166509"/>
          </a:xfrm>
          <a:prstGeom prst="rect">
            <a:avLst/>
          </a:prstGeom>
        </p:spPr>
        <p:txBody>
          <a:bodyPr anchor="t" rtlCol="false" tIns="0" lIns="0" bIns="0" rIns="0">
            <a:spAutoFit/>
          </a:bodyPr>
          <a:lstStyle/>
          <a:p>
            <a:pPr algn="l">
              <a:lnSpc>
                <a:spcPts val="9426"/>
              </a:lnSpc>
              <a:spcBef>
                <a:spcPct val="0"/>
              </a:spcBef>
            </a:pPr>
            <a:r>
              <a:rPr lang="en-US" sz="6732" b="true">
                <a:solidFill>
                  <a:srgbClr val="F3F3EA"/>
                </a:solidFill>
                <a:latin typeface="Rasputin Bold"/>
                <a:ea typeface="Rasputin Bold"/>
                <a:cs typeface="Rasputin Bold"/>
                <a:sym typeface="Rasputin Bold"/>
              </a:rPr>
              <a:t>Project Overview and Relevance</a:t>
            </a:r>
          </a:p>
        </p:txBody>
      </p:sp>
      <p:grpSp>
        <p:nvGrpSpPr>
          <p:cNvPr name="Group 7" id="7"/>
          <p:cNvGrpSpPr/>
          <p:nvPr/>
        </p:nvGrpSpPr>
        <p:grpSpPr>
          <a:xfrm rot="0">
            <a:off x="15890057" y="8027346"/>
            <a:ext cx="2397943" cy="1313917"/>
            <a:chOff x="0" y="0"/>
            <a:chExt cx="631557" cy="346052"/>
          </a:xfrm>
        </p:grpSpPr>
        <p:sp>
          <p:nvSpPr>
            <p:cNvPr name="Freeform 8" id="8">
              <a:extLst>
                <a:ext uri="{C183D7F6-B498-43B3-948B-1728B52AA6E4}">
                  <adec:decorative xmlns:adec="http://schemas.microsoft.com/office/drawing/2017/decorative" val="1"/>
                </a:ext>
              </a:extLst>
            </p:cNvPr>
            <p:cNvSpPr/>
            <p:nvPr/>
          </p:nvSpPr>
          <p:spPr>
            <a:xfrm flipH="false" flipV="false" rot="0">
              <a:off x="0" y="0"/>
              <a:ext cx="631557" cy="346052"/>
            </a:xfrm>
            <a:custGeom>
              <a:avLst/>
              <a:gdLst/>
              <a:ahLst/>
              <a:cxnLst/>
              <a:rect r="r" b="b" t="t" l="l"/>
              <a:pathLst>
                <a:path h="346052" w="631557">
                  <a:moveTo>
                    <a:pt x="0" y="0"/>
                  </a:moveTo>
                  <a:lnTo>
                    <a:pt x="631557" y="0"/>
                  </a:lnTo>
                  <a:lnTo>
                    <a:pt x="631557" y="346052"/>
                  </a:lnTo>
                  <a:lnTo>
                    <a:pt x="0" y="346052"/>
                  </a:lnTo>
                  <a:close/>
                </a:path>
              </a:pathLst>
            </a:custGeom>
            <a:solidFill>
              <a:srgbClr val="CBC4AD"/>
            </a:solidFill>
          </p:spPr>
        </p:sp>
        <p:sp>
          <p:nvSpPr>
            <p:cNvPr name="TextBox 9" id="9"/>
            <p:cNvSpPr txBox="true"/>
            <p:nvPr/>
          </p:nvSpPr>
          <p:spPr>
            <a:xfrm>
              <a:off x="0" y="-38100"/>
              <a:ext cx="631557" cy="384152"/>
            </a:xfrm>
            <a:prstGeom prst="rect">
              <a:avLst/>
            </a:prstGeom>
          </p:spPr>
          <p:txBody>
            <a:bodyPr anchor="ctr" rtlCol="false" tIns="50800" lIns="50800" bIns="50800" rIns="50800"/>
            <a:lstStyle/>
            <a:p>
              <a:pPr algn="ctr">
                <a:lnSpc>
                  <a:spcPts val="2659"/>
                </a:lnSpc>
              </a:pPr>
            </a:p>
          </p:txBody>
        </p:sp>
      </p:grpSp>
      <p:sp>
        <p:nvSpPr>
          <p:cNvPr name="Freeform 10" id="10">
            <a:extLst>
              <a:ext uri="{C183D7F6-B498-43B3-948B-1728B52AA6E4}">
                <adec:decorative xmlns:adec="http://schemas.microsoft.com/office/drawing/2017/decorative" val="1"/>
              </a:ext>
            </a:extLst>
          </p:cNvPr>
          <p:cNvSpPr/>
          <p:nvPr/>
        </p:nvSpPr>
        <p:spPr>
          <a:xfrm flipH="false" flipV="false" rot="0">
            <a:off x="11374243" y="9341263"/>
            <a:ext cx="3935101" cy="608152"/>
          </a:xfrm>
          <a:custGeom>
            <a:avLst/>
            <a:gdLst/>
            <a:ahLst/>
            <a:cxnLst/>
            <a:rect r="r" b="b" t="t" l="l"/>
            <a:pathLst>
              <a:path h="608152" w="3935101">
                <a:moveTo>
                  <a:pt x="0" y="0"/>
                </a:moveTo>
                <a:lnTo>
                  <a:pt x="3935101" y="0"/>
                </a:lnTo>
                <a:lnTo>
                  <a:pt x="3935101" y="608152"/>
                </a:lnTo>
                <a:lnTo>
                  <a:pt x="0" y="6081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15781988" y="7960405"/>
            <a:ext cx="2506012" cy="1295400"/>
          </a:xfrm>
          <a:prstGeom prst="rect">
            <a:avLst/>
          </a:prstGeom>
        </p:spPr>
        <p:txBody>
          <a:bodyPr anchor="t" rtlCol="false" tIns="0" lIns="0" bIns="0" rIns="0">
            <a:spAutoFit/>
          </a:bodyPr>
          <a:lstStyle/>
          <a:p>
            <a:pPr algn="ctr">
              <a:lnSpc>
                <a:spcPts val="10500"/>
              </a:lnSpc>
              <a:spcBef>
                <a:spcPct val="0"/>
              </a:spcBef>
            </a:pPr>
            <a:r>
              <a:rPr lang="en-US" b="true" sz="7500">
                <a:solidFill>
                  <a:srgbClr val="F3F3EA"/>
                </a:solidFill>
                <a:latin typeface="Rasputin Bold"/>
                <a:ea typeface="Rasputin Bold"/>
                <a:cs typeface="Rasputin Bold"/>
                <a:sym typeface="Rasputin Bold"/>
              </a:rPr>
              <a:t>02</a:t>
            </a:r>
          </a:p>
        </p:txBody>
      </p:sp>
      <p:grpSp>
        <p:nvGrpSpPr>
          <p:cNvPr name="Group 12" id="12"/>
          <p:cNvGrpSpPr/>
          <p:nvPr/>
        </p:nvGrpSpPr>
        <p:grpSpPr>
          <a:xfrm rot="0">
            <a:off x="946059" y="-1982600"/>
            <a:ext cx="2943871" cy="294387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2C9A9"/>
            </a:solidFill>
          </p:spPr>
        </p:sp>
        <p:sp>
          <p:nvSpPr>
            <p:cNvPr name="TextBox 14" id="14"/>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7451980" y="9255805"/>
            <a:ext cx="2943871" cy="294387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2C9A9"/>
            </a:solidFill>
          </p:spPr>
        </p:sp>
        <p:sp>
          <p:nvSpPr>
            <p:cNvPr name="TextBox 17" id="17"/>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2240039" y="3206222"/>
            <a:ext cx="13807921" cy="6049582"/>
          </a:xfrm>
          <a:prstGeom prst="rect">
            <a:avLst/>
          </a:prstGeom>
        </p:spPr>
        <p:txBody>
          <a:bodyPr anchor="t" rtlCol="false" tIns="0" lIns="0" bIns="0" rIns="0">
            <a:spAutoFit/>
          </a:bodyPr>
          <a:lstStyle/>
          <a:p>
            <a:pPr algn="just">
              <a:lnSpc>
                <a:spcPts val="4333"/>
              </a:lnSpc>
            </a:pPr>
            <a:r>
              <a:rPr lang="en-US" sz="3095">
                <a:solidFill>
                  <a:srgbClr val="443F2B"/>
                </a:solidFill>
                <a:latin typeface="Codec Pro"/>
                <a:ea typeface="Codec Pro"/>
                <a:cs typeface="Codec Pro"/>
                <a:sym typeface="Codec Pro"/>
              </a:rPr>
              <a:t>This Python-based health monitoring tool is designed to interpret and analyze data from the user. Converting their numerical values to understandable  descriptions.  This program covers several diagnostic tests such as: Glucose Tests, Complete Blood Count (CBC), Urinalysis, Lipid Panel, Coagulation Tests, Thyroid Tests, and Kidney Function (such as GFR).  It is also important to note that each parameter is evaluated with age appropriate and gender appropriate references.</a:t>
            </a:r>
          </a:p>
          <a:p>
            <a:pPr algn="just">
              <a:lnSpc>
                <a:spcPts val="4333"/>
              </a:lnSpc>
            </a:pPr>
          </a:p>
          <a:p>
            <a:pPr algn="just">
              <a:lnSpc>
                <a:spcPts val="4333"/>
              </a:lnSpc>
              <a:spcBef>
                <a:spcPct val="0"/>
              </a:spcBef>
            </a:pPr>
            <a:r>
              <a:rPr lang="en-US" sz="3095">
                <a:solidFill>
                  <a:srgbClr val="443F2B"/>
                </a:solidFill>
                <a:latin typeface="Codec Pro"/>
                <a:ea typeface="Codec Pro"/>
                <a:cs typeface="Codec Pro"/>
                <a:sym typeface="Codec Pro"/>
              </a:rPr>
              <a:t>To conclude, the main goal of the program is not replace health care professionals and their accurate diagnosis but rather to create an easy-to-understand  tool for users to understand their results better.</a:t>
            </a:r>
          </a:p>
        </p:txBody>
      </p:sp>
    </p:spTree>
  </p:cSld>
  <p:clrMapOvr>
    <a:masterClrMapping/>
  </p:clrMapOvr>
  <p:transition spd="fast">
    <p:cover dir="l"/>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3F3EA"/>
        </a:solidFill>
      </p:bgPr>
    </p:bg>
    <p:spTree>
      <p:nvGrpSpPr>
        <p:cNvPr id="1" name=""/>
        <p:cNvGrpSpPr/>
        <p:nvPr/>
      </p:nvGrpSpPr>
      <p:grpSpPr>
        <a:xfrm>
          <a:off x="0" y="0"/>
          <a:ext cx="0" cy="0"/>
          <a:chOff x="0" y="0"/>
          <a:chExt cx="0" cy="0"/>
        </a:xfrm>
      </p:grpSpPr>
      <p:grpSp>
        <p:nvGrpSpPr>
          <p:cNvPr name="Group 2" id="2"/>
          <p:cNvGrpSpPr/>
          <p:nvPr/>
        </p:nvGrpSpPr>
        <p:grpSpPr>
          <a:xfrm rot="0">
            <a:off x="0" y="1151632"/>
            <a:ext cx="8945791" cy="1990382"/>
            <a:chOff x="0" y="0"/>
            <a:chExt cx="2356093" cy="524216"/>
          </a:xfrm>
        </p:grpSpPr>
        <p:sp>
          <p:nvSpPr>
            <p:cNvPr name="Freeform 3" id="3">
              <a:extLst>
                <a:ext uri="{C183D7F6-B498-43B3-948B-1728B52AA6E4}">
                  <adec:decorative xmlns:adec="http://schemas.microsoft.com/office/drawing/2017/decorative" val="1"/>
                </a:ext>
              </a:extLst>
            </p:cNvPr>
            <p:cNvSpPr/>
            <p:nvPr/>
          </p:nvSpPr>
          <p:spPr>
            <a:xfrm flipH="false" flipV="false" rot="0">
              <a:off x="0" y="0"/>
              <a:ext cx="2356093" cy="524216"/>
            </a:xfrm>
            <a:custGeom>
              <a:avLst/>
              <a:gdLst/>
              <a:ahLst/>
              <a:cxnLst/>
              <a:rect r="r" b="b" t="t" l="l"/>
              <a:pathLst>
                <a:path h="524216" w="2356093">
                  <a:moveTo>
                    <a:pt x="0" y="0"/>
                  </a:moveTo>
                  <a:lnTo>
                    <a:pt x="2356093" y="0"/>
                  </a:lnTo>
                  <a:lnTo>
                    <a:pt x="2356093" y="524216"/>
                  </a:lnTo>
                  <a:lnTo>
                    <a:pt x="0" y="524216"/>
                  </a:lnTo>
                  <a:close/>
                </a:path>
              </a:pathLst>
            </a:custGeom>
            <a:solidFill>
              <a:srgbClr val="726343"/>
            </a:solidFill>
          </p:spPr>
        </p:sp>
        <p:sp>
          <p:nvSpPr>
            <p:cNvPr name="TextBox 4" id="4"/>
            <p:cNvSpPr txBox="true"/>
            <p:nvPr/>
          </p:nvSpPr>
          <p:spPr>
            <a:xfrm>
              <a:off x="0" y="-38100"/>
              <a:ext cx="2356093" cy="562316"/>
            </a:xfrm>
            <a:prstGeom prst="rect">
              <a:avLst/>
            </a:prstGeom>
          </p:spPr>
          <p:txBody>
            <a:bodyPr anchor="ctr" rtlCol="false" tIns="50800" lIns="50800" bIns="50800" rIns="50800"/>
            <a:lstStyle/>
            <a:p>
              <a:pPr algn="ctr">
                <a:lnSpc>
                  <a:spcPts val="2659"/>
                </a:lnSpc>
              </a:pPr>
            </a:p>
          </p:txBody>
        </p:sp>
      </p:grpSp>
      <p:sp>
        <p:nvSpPr>
          <p:cNvPr name="Freeform 5" id="5">
            <a:extLst>
              <a:ext uri="{C183D7F6-B498-43B3-948B-1728B52AA6E4}">
                <adec:decorative xmlns:adec="http://schemas.microsoft.com/office/drawing/2017/decorative" val="1"/>
              </a:ext>
            </a:extLst>
          </p:cNvPr>
          <p:cNvSpPr/>
          <p:nvPr/>
        </p:nvSpPr>
        <p:spPr>
          <a:xfrm flipH="true" flipV="false" rot="0">
            <a:off x="13894719" y="-416265"/>
            <a:ext cx="7803043" cy="8112805"/>
          </a:xfrm>
          <a:custGeom>
            <a:avLst/>
            <a:gdLst/>
            <a:ahLst/>
            <a:cxnLst/>
            <a:rect r="r" b="b" t="t" l="l"/>
            <a:pathLst>
              <a:path h="8112805" w="7803043">
                <a:moveTo>
                  <a:pt x="7803043" y="0"/>
                </a:moveTo>
                <a:lnTo>
                  <a:pt x="0" y="0"/>
                </a:lnTo>
                <a:lnTo>
                  <a:pt x="0" y="8112805"/>
                </a:lnTo>
                <a:lnTo>
                  <a:pt x="7803043" y="8112805"/>
                </a:lnTo>
                <a:lnTo>
                  <a:pt x="7803043"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710665" y="1492131"/>
            <a:ext cx="6546236" cy="1166509"/>
          </a:xfrm>
          <a:prstGeom prst="rect">
            <a:avLst/>
          </a:prstGeom>
        </p:spPr>
        <p:txBody>
          <a:bodyPr anchor="t" rtlCol="false" tIns="0" lIns="0" bIns="0" rIns="0">
            <a:spAutoFit/>
          </a:bodyPr>
          <a:lstStyle/>
          <a:p>
            <a:pPr algn="l">
              <a:lnSpc>
                <a:spcPts val="9426"/>
              </a:lnSpc>
              <a:spcBef>
                <a:spcPct val="0"/>
              </a:spcBef>
            </a:pPr>
            <a:r>
              <a:rPr lang="en-US" sz="6732" b="true">
                <a:solidFill>
                  <a:srgbClr val="F3F3EA"/>
                </a:solidFill>
                <a:latin typeface="Rasputin Bold"/>
                <a:ea typeface="Rasputin Bold"/>
                <a:cs typeface="Rasputin Bold"/>
                <a:sym typeface="Rasputin Bold"/>
              </a:rPr>
              <a:t>Objectives</a:t>
            </a:r>
          </a:p>
        </p:txBody>
      </p:sp>
      <p:sp>
        <p:nvSpPr>
          <p:cNvPr name="TextBox 7" id="7"/>
          <p:cNvSpPr txBox="true"/>
          <p:nvPr/>
        </p:nvSpPr>
        <p:spPr>
          <a:xfrm rot="0">
            <a:off x="620303" y="3142014"/>
            <a:ext cx="14000541" cy="6659211"/>
          </a:xfrm>
          <a:prstGeom prst="rect">
            <a:avLst/>
          </a:prstGeom>
        </p:spPr>
        <p:txBody>
          <a:bodyPr anchor="t" rtlCol="false" tIns="0" lIns="0" bIns="0" rIns="0">
            <a:spAutoFit/>
          </a:bodyPr>
          <a:lstStyle/>
          <a:p>
            <a:pPr algn="just" marL="734168" indent="-367084" lvl="1">
              <a:lnSpc>
                <a:spcPts val="4760"/>
              </a:lnSpc>
              <a:buFont typeface="Arial"/>
              <a:buChar char="•"/>
            </a:pPr>
            <a:r>
              <a:rPr lang="en-US" sz="3400">
                <a:solidFill>
                  <a:srgbClr val="443F2B"/>
                </a:solidFill>
                <a:latin typeface="Codec Pro"/>
                <a:ea typeface="Codec Pro"/>
                <a:cs typeface="Codec Pro"/>
                <a:sym typeface="Codec Pro"/>
              </a:rPr>
              <a:t>Helps users understand their lab test results better</a:t>
            </a:r>
          </a:p>
          <a:p>
            <a:pPr algn="just" marL="734168" indent="-367084" lvl="1">
              <a:lnSpc>
                <a:spcPts val="4760"/>
              </a:lnSpc>
              <a:buFont typeface="Arial"/>
              <a:buChar char="•"/>
            </a:pPr>
            <a:r>
              <a:rPr lang="en-US" sz="3400">
                <a:solidFill>
                  <a:srgbClr val="443F2B"/>
                </a:solidFill>
                <a:latin typeface="Codec Pro"/>
                <a:ea typeface="Codec Pro"/>
                <a:cs typeface="Codec Pro"/>
                <a:sym typeface="Codec Pro"/>
              </a:rPr>
              <a:t>Lets users enter personal info and test results (like blood tests and urine tests)</a:t>
            </a:r>
          </a:p>
          <a:p>
            <a:pPr algn="just" marL="734168" indent="-367084" lvl="1">
              <a:lnSpc>
                <a:spcPts val="4760"/>
              </a:lnSpc>
              <a:buFont typeface="Arial"/>
              <a:buChar char="•"/>
            </a:pPr>
            <a:r>
              <a:rPr lang="en-US" sz="3400">
                <a:solidFill>
                  <a:srgbClr val="443F2B"/>
                </a:solidFill>
                <a:latin typeface="Codec Pro"/>
                <a:ea typeface="Codec Pro"/>
                <a:cs typeface="Codec Pro"/>
                <a:sym typeface="Codec Pro"/>
              </a:rPr>
              <a:t>Compares results to normal medical ranges (based on age and gender)</a:t>
            </a:r>
          </a:p>
          <a:p>
            <a:pPr algn="just" marL="734168" indent="-367084" lvl="1">
              <a:lnSpc>
                <a:spcPts val="4760"/>
              </a:lnSpc>
              <a:buFont typeface="Arial"/>
              <a:buChar char="•"/>
            </a:pPr>
            <a:r>
              <a:rPr lang="en-US" sz="3400">
                <a:solidFill>
                  <a:srgbClr val="443F2B"/>
                </a:solidFill>
                <a:latin typeface="Codec Pro"/>
                <a:ea typeface="Codec Pro"/>
                <a:cs typeface="Codec Pro"/>
                <a:sym typeface="Codec Pro"/>
              </a:rPr>
              <a:t>Shows if results are normal, low, high, or abnormal</a:t>
            </a:r>
          </a:p>
          <a:p>
            <a:pPr algn="just" marL="734168" indent="-367084" lvl="1">
              <a:lnSpc>
                <a:spcPts val="4760"/>
              </a:lnSpc>
              <a:buFont typeface="Arial"/>
              <a:buChar char="•"/>
            </a:pPr>
            <a:r>
              <a:rPr lang="en-US" sz="3400">
                <a:solidFill>
                  <a:srgbClr val="443F2B"/>
                </a:solidFill>
                <a:latin typeface="Codec Pro"/>
                <a:ea typeface="Codec Pro"/>
                <a:cs typeface="Codec Pro"/>
                <a:sym typeface="Codec Pro"/>
              </a:rPr>
              <a:t>Gives alerts if there might be health problems (like infections or diseases)</a:t>
            </a:r>
          </a:p>
          <a:p>
            <a:pPr algn="just" marL="734168" indent="-367084" lvl="1">
              <a:lnSpc>
                <a:spcPts val="4760"/>
              </a:lnSpc>
              <a:buFont typeface="Arial"/>
              <a:buChar char="•"/>
            </a:pPr>
            <a:r>
              <a:rPr lang="en-US" sz="3400">
                <a:solidFill>
                  <a:srgbClr val="443F2B"/>
                </a:solidFill>
                <a:latin typeface="Codec Pro"/>
                <a:ea typeface="Codec Pro"/>
                <a:cs typeface="Codec Pro"/>
                <a:sym typeface="Codec Pro"/>
              </a:rPr>
              <a:t>Provides simple health advice based on the results</a:t>
            </a:r>
          </a:p>
          <a:p>
            <a:pPr algn="just" marL="734168" indent="-367084" lvl="1">
              <a:lnSpc>
                <a:spcPts val="4760"/>
              </a:lnSpc>
              <a:buFont typeface="Arial"/>
              <a:buChar char="•"/>
            </a:pPr>
            <a:r>
              <a:rPr lang="en-US" sz="3400">
                <a:solidFill>
                  <a:srgbClr val="443F2B"/>
                </a:solidFill>
                <a:latin typeface="Codec Pro"/>
                <a:ea typeface="Codec Pro"/>
                <a:cs typeface="Codec Pro"/>
                <a:sym typeface="Codec Pro"/>
              </a:rPr>
              <a:t>Encourages early detection of possible health issues</a:t>
            </a:r>
          </a:p>
          <a:p>
            <a:pPr algn="just" marL="734168" indent="-367084" lvl="1">
              <a:lnSpc>
                <a:spcPts val="4760"/>
              </a:lnSpc>
              <a:buFont typeface="Arial"/>
              <a:buChar char="•"/>
            </a:pPr>
            <a:r>
              <a:rPr lang="en-US" sz="3400">
                <a:solidFill>
                  <a:srgbClr val="443F2B"/>
                </a:solidFill>
                <a:latin typeface="Codec Pro"/>
                <a:ea typeface="Codec Pro"/>
                <a:cs typeface="Codec Pro"/>
                <a:sym typeface="Codec Pro"/>
              </a:rPr>
              <a:t>Reminds users to consult a doctor when needed</a:t>
            </a:r>
          </a:p>
        </p:txBody>
      </p:sp>
      <p:grpSp>
        <p:nvGrpSpPr>
          <p:cNvPr name="Group 8" id="8"/>
          <p:cNvGrpSpPr/>
          <p:nvPr/>
        </p:nvGrpSpPr>
        <p:grpSpPr>
          <a:xfrm rot="0">
            <a:off x="15890057" y="8027346"/>
            <a:ext cx="2397943" cy="1313917"/>
            <a:chOff x="0" y="0"/>
            <a:chExt cx="631557" cy="346052"/>
          </a:xfrm>
        </p:grpSpPr>
        <p:sp>
          <p:nvSpPr>
            <p:cNvPr name="Freeform 9" id="9">
              <a:extLst>
                <a:ext uri="{C183D7F6-B498-43B3-948B-1728B52AA6E4}">
                  <adec:decorative xmlns:adec="http://schemas.microsoft.com/office/drawing/2017/decorative" val="1"/>
                </a:ext>
              </a:extLst>
            </p:cNvPr>
            <p:cNvSpPr/>
            <p:nvPr/>
          </p:nvSpPr>
          <p:spPr>
            <a:xfrm flipH="false" flipV="false" rot="0">
              <a:off x="0" y="0"/>
              <a:ext cx="631557" cy="346052"/>
            </a:xfrm>
            <a:custGeom>
              <a:avLst/>
              <a:gdLst/>
              <a:ahLst/>
              <a:cxnLst/>
              <a:rect r="r" b="b" t="t" l="l"/>
              <a:pathLst>
                <a:path h="346052" w="631557">
                  <a:moveTo>
                    <a:pt x="0" y="0"/>
                  </a:moveTo>
                  <a:lnTo>
                    <a:pt x="631557" y="0"/>
                  </a:lnTo>
                  <a:lnTo>
                    <a:pt x="631557" y="346052"/>
                  </a:lnTo>
                  <a:lnTo>
                    <a:pt x="0" y="346052"/>
                  </a:lnTo>
                  <a:close/>
                </a:path>
              </a:pathLst>
            </a:custGeom>
            <a:solidFill>
              <a:srgbClr val="CBC4AD"/>
            </a:solidFill>
          </p:spPr>
        </p:sp>
        <p:sp>
          <p:nvSpPr>
            <p:cNvPr name="TextBox 10" id="10"/>
            <p:cNvSpPr txBox="true"/>
            <p:nvPr/>
          </p:nvSpPr>
          <p:spPr>
            <a:xfrm>
              <a:off x="0" y="-38100"/>
              <a:ext cx="631557" cy="384152"/>
            </a:xfrm>
            <a:prstGeom prst="rect">
              <a:avLst/>
            </a:prstGeom>
          </p:spPr>
          <p:txBody>
            <a:bodyPr anchor="ctr" rtlCol="false" tIns="50800" lIns="50800" bIns="50800" rIns="50800"/>
            <a:lstStyle/>
            <a:p>
              <a:pPr algn="ctr">
                <a:lnSpc>
                  <a:spcPts val="2659"/>
                </a:lnSpc>
              </a:pPr>
            </a:p>
          </p:txBody>
        </p:sp>
      </p:grpSp>
      <p:sp>
        <p:nvSpPr>
          <p:cNvPr name="Freeform 11" id="11">
            <a:extLst>
              <a:ext uri="{C183D7F6-B498-43B3-948B-1728B52AA6E4}">
                <adec:decorative xmlns:adec="http://schemas.microsoft.com/office/drawing/2017/decorative" val="1"/>
              </a:ext>
            </a:extLst>
          </p:cNvPr>
          <p:cNvSpPr/>
          <p:nvPr/>
        </p:nvSpPr>
        <p:spPr>
          <a:xfrm flipH="false" flipV="false" rot="0">
            <a:off x="9822374" y="420548"/>
            <a:ext cx="3935101" cy="608152"/>
          </a:xfrm>
          <a:custGeom>
            <a:avLst/>
            <a:gdLst/>
            <a:ahLst/>
            <a:cxnLst/>
            <a:rect r="r" b="b" t="t" l="l"/>
            <a:pathLst>
              <a:path h="608152" w="3935101">
                <a:moveTo>
                  <a:pt x="0" y="0"/>
                </a:moveTo>
                <a:lnTo>
                  <a:pt x="3935101" y="0"/>
                </a:lnTo>
                <a:lnTo>
                  <a:pt x="3935101" y="608152"/>
                </a:lnTo>
                <a:lnTo>
                  <a:pt x="0" y="6081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15781988" y="7960405"/>
            <a:ext cx="2506012" cy="1295400"/>
          </a:xfrm>
          <a:prstGeom prst="rect">
            <a:avLst/>
          </a:prstGeom>
        </p:spPr>
        <p:txBody>
          <a:bodyPr anchor="t" rtlCol="false" tIns="0" lIns="0" bIns="0" rIns="0">
            <a:spAutoFit/>
          </a:bodyPr>
          <a:lstStyle/>
          <a:p>
            <a:pPr algn="ctr">
              <a:lnSpc>
                <a:spcPts val="10500"/>
              </a:lnSpc>
              <a:spcBef>
                <a:spcPct val="0"/>
              </a:spcBef>
            </a:pPr>
            <a:r>
              <a:rPr lang="en-US" b="true" sz="7500">
                <a:solidFill>
                  <a:srgbClr val="F3F3EA"/>
                </a:solidFill>
                <a:latin typeface="Rasputin Bold"/>
                <a:ea typeface="Rasputin Bold"/>
                <a:cs typeface="Rasputin Bold"/>
                <a:sym typeface="Rasputin Bold"/>
              </a:rPr>
              <a:t>03</a:t>
            </a:r>
          </a:p>
        </p:txBody>
      </p:sp>
    </p:spTree>
  </p:cSld>
  <p:clrMapOvr>
    <a:masterClrMapping/>
  </p:clrMapOvr>
  <p:transition spd="fast">
    <p:cover dir="l"/>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3F3EA"/>
        </a:solidFill>
      </p:bgPr>
    </p:bg>
    <p:spTree>
      <p:nvGrpSpPr>
        <p:cNvPr id="1" name=""/>
        <p:cNvGrpSpPr/>
        <p:nvPr/>
      </p:nvGrpSpPr>
      <p:grpSpPr>
        <a:xfrm>
          <a:off x="0" y="0"/>
          <a:ext cx="0" cy="0"/>
          <a:chOff x="0" y="0"/>
          <a:chExt cx="0" cy="0"/>
        </a:xfrm>
      </p:grpSpPr>
      <p:grpSp>
        <p:nvGrpSpPr>
          <p:cNvPr name="Group 2" id="2"/>
          <p:cNvGrpSpPr/>
          <p:nvPr/>
        </p:nvGrpSpPr>
        <p:grpSpPr>
          <a:xfrm rot="0">
            <a:off x="0" y="1028700"/>
            <a:ext cx="12200657" cy="2222672"/>
            <a:chOff x="0" y="0"/>
            <a:chExt cx="3213342" cy="585395"/>
          </a:xfrm>
        </p:grpSpPr>
        <p:sp>
          <p:nvSpPr>
            <p:cNvPr name="Freeform 3" id="3">
              <a:extLst>
                <a:ext uri="{C183D7F6-B498-43B3-948B-1728B52AA6E4}">
                  <adec:decorative xmlns:adec="http://schemas.microsoft.com/office/drawing/2017/decorative" val="1"/>
                </a:ext>
              </a:extLst>
            </p:cNvPr>
            <p:cNvSpPr/>
            <p:nvPr/>
          </p:nvSpPr>
          <p:spPr>
            <a:xfrm flipH="false" flipV="false" rot="0">
              <a:off x="0" y="0"/>
              <a:ext cx="3213342" cy="585395"/>
            </a:xfrm>
            <a:custGeom>
              <a:avLst/>
              <a:gdLst/>
              <a:ahLst/>
              <a:cxnLst/>
              <a:rect r="r" b="b" t="t" l="l"/>
              <a:pathLst>
                <a:path h="585395" w="3213342">
                  <a:moveTo>
                    <a:pt x="0" y="0"/>
                  </a:moveTo>
                  <a:lnTo>
                    <a:pt x="3213342" y="0"/>
                  </a:lnTo>
                  <a:lnTo>
                    <a:pt x="3213342" y="585395"/>
                  </a:lnTo>
                  <a:lnTo>
                    <a:pt x="0" y="585395"/>
                  </a:lnTo>
                  <a:close/>
                </a:path>
              </a:pathLst>
            </a:custGeom>
            <a:solidFill>
              <a:srgbClr val="726343"/>
            </a:solidFill>
          </p:spPr>
        </p:sp>
        <p:sp>
          <p:nvSpPr>
            <p:cNvPr name="TextBox 4" id="4"/>
            <p:cNvSpPr txBox="true"/>
            <p:nvPr/>
          </p:nvSpPr>
          <p:spPr>
            <a:xfrm>
              <a:off x="0" y="-38100"/>
              <a:ext cx="3213342" cy="623495"/>
            </a:xfrm>
            <a:prstGeom prst="rect">
              <a:avLst/>
            </a:prstGeom>
          </p:spPr>
          <p:txBody>
            <a:bodyPr anchor="ctr" rtlCol="false" tIns="50800" lIns="50800" bIns="50800" rIns="50800"/>
            <a:lstStyle/>
            <a:p>
              <a:pPr algn="ctr">
                <a:lnSpc>
                  <a:spcPts val="2659"/>
                </a:lnSpc>
              </a:pPr>
            </a:p>
          </p:txBody>
        </p:sp>
      </p:grpSp>
      <p:sp>
        <p:nvSpPr>
          <p:cNvPr name="Freeform 5" id="5">
            <a:extLst>
              <a:ext uri="{C183D7F6-B498-43B3-948B-1728B52AA6E4}">
                <adec:decorative xmlns:adec="http://schemas.microsoft.com/office/drawing/2017/decorative" val="1"/>
              </a:ext>
            </a:extLst>
          </p:cNvPr>
          <p:cNvSpPr/>
          <p:nvPr/>
        </p:nvSpPr>
        <p:spPr>
          <a:xfrm flipH="false" flipV="false" rot="0">
            <a:off x="-5247337" y="1151632"/>
            <a:ext cx="8786563" cy="9135368"/>
          </a:xfrm>
          <a:custGeom>
            <a:avLst/>
            <a:gdLst/>
            <a:ahLst/>
            <a:cxnLst/>
            <a:rect r="r" b="b" t="t" l="l"/>
            <a:pathLst>
              <a:path h="9135368" w="8786563">
                <a:moveTo>
                  <a:pt x="0" y="0"/>
                </a:moveTo>
                <a:lnTo>
                  <a:pt x="8786563" y="0"/>
                </a:lnTo>
                <a:lnTo>
                  <a:pt x="8786563" y="9135368"/>
                </a:lnTo>
                <a:lnTo>
                  <a:pt x="0" y="91353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710665" y="1492131"/>
            <a:ext cx="10489992" cy="1166509"/>
          </a:xfrm>
          <a:prstGeom prst="rect">
            <a:avLst/>
          </a:prstGeom>
        </p:spPr>
        <p:txBody>
          <a:bodyPr anchor="t" rtlCol="false" tIns="0" lIns="0" bIns="0" rIns="0">
            <a:spAutoFit/>
          </a:bodyPr>
          <a:lstStyle/>
          <a:p>
            <a:pPr algn="l">
              <a:lnSpc>
                <a:spcPts val="9426"/>
              </a:lnSpc>
              <a:spcBef>
                <a:spcPct val="0"/>
              </a:spcBef>
            </a:pPr>
            <a:r>
              <a:rPr lang="en-US" sz="6732" b="true">
                <a:solidFill>
                  <a:srgbClr val="F3F3EA"/>
                </a:solidFill>
                <a:latin typeface="Rasputin Bold"/>
                <a:ea typeface="Rasputin Bold"/>
                <a:cs typeface="Rasputin Bold"/>
                <a:sym typeface="Rasputin Bold"/>
              </a:rPr>
              <a:t>Technical Approach</a:t>
            </a:r>
          </a:p>
        </p:txBody>
      </p:sp>
      <p:grpSp>
        <p:nvGrpSpPr>
          <p:cNvPr name="Group 7" id="7"/>
          <p:cNvGrpSpPr/>
          <p:nvPr/>
        </p:nvGrpSpPr>
        <p:grpSpPr>
          <a:xfrm rot="0">
            <a:off x="15890057" y="8027346"/>
            <a:ext cx="2397943" cy="1313917"/>
            <a:chOff x="0" y="0"/>
            <a:chExt cx="631557" cy="346052"/>
          </a:xfrm>
        </p:grpSpPr>
        <p:sp>
          <p:nvSpPr>
            <p:cNvPr name="Freeform 8" id="8">
              <a:extLst>
                <a:ext uri="{C183D7F6-B498-43B3-948B-1728B52AA6E4}">
                  <adec:decorative xmlns:adec="http://schemas.microsoft.com/office/drawing/2017/decorative" val="1"/>
                </a:ext>
              </a:extLst>
            </p:cNvPr>
            <p:cNvSpPr/>
            <p:nvPr/>
          </p:nvSpPr>
          <p:spPr>
            <a:xfrm flipH="false" flipV="false" rot="0">
              <a:off x="0" y="0"/>
              <a:ext cx="631557" cy="346052"/>
            </a:xfrm>
            <a:custGeom>
              <a:avLst/>
              <a:gdLst/>
              <a:ahLst/>
              <a:cxnLst/>
              <a:rect r="r" b="b" t="t" l="l"/>
              <a:pathLst>
                <a:path h="346052" w="631557">
                  <a:moveTo>
                    <a:pt x="0" y="0"/>
                  </a:moveTo>
                  <a:lnTo>
                    <a:pt x="631557" y="0"/>
                  </a:lnTo>
                  <a:lnTo>
                    <a:pt x="631557" y="346052"/>
                  </a:lnTo>
                  <a:lnTo>
                    <a:pt x="0" y="346052"/>
                  </a:lnTo>
                  <a:close/>
                </a:path>
              </a:pathLst>
            </a:custGeom>
            <a:solidFill>
              <a:srgbClr val="CBC4AD"/>
            </a:solidFill>
          </p:spPr>
        </p:sp>
        <p:sp>
          <p:nvSpPr>
            <p:cNvPr name="TextBox 9" id="9"/>
            <p:cNvSpPr txBox="true"/>
            <p:nvPr/>
          </p:nvSpPr>
          <p:spPr>
            <a:xfrm>
              <a:off x="0" y="-38100"/>
              <a:ext cx="631557" cy="384152"/>
            </a:xfrm>
            <a:prstGeom prst="rect">
              <a:avLst/>
            </a:prstGeom>
          </p:spPr>
          <p:txBody>
            <a:bodyPr anchor="ctr" rtlCol="false" tIns="50800" lIns="50800" bIns="50800" rIns="50800"/>
            <a:lstStyle/>
            <a:p>
              <a:pPr algn="ctr">
                <a:lnSpc>
                  <a:spcPts val="2659"/>
                </a:lnSpc>
              </a:pPr>
            </a:p>
          </p:txBody>
        </p:sp>
      </p:grpSp>
      <p:sp>
        <p:nvSpPr>
          <p:cNvPr name="Freeform 10" id="10">
            <a:extLst>
              <a:ext uri="{C183D7F6-B498-43B3-948B-1728B52AA6E4}">
                <adec:decorative xmlns:adec="http://schemas.microsoft.com/office/drawing/2017/decorative" val="1"/>
              </a:ext>
            </a:extLst>
          </p:cNvPr>
          <p:cNvSpPr/>
          <p:nvPr/>
        </p:nvSpPr>
        <p:spPr>
          <a:xfrm flipH="false" flipV="false" rot="0">
            <a:off x="4132778" y="9480724"/>
            <a:ext cx="3935101" cy="608152"/>
          </a:xfrm>
          <a:custGeom>
            <a:avLst/>
            <a:gdLst/>
            <a:ahLst/>
            <a:cxnLst/>
            <a:rect r="r" b="b" t="t" l="l"/>
            <a:pathLst>
              <a:path h="608152" w="3935101">
                <a:moveTo>
                  <a:pt x="0" y="0"/>
                </a:moveTo>
                <a:lnTo>
                  <a:pt x="3935101" y="0"/>
                </a:lnTo>
                <a:lnTo>
                  <a:pt x="3935101" y="608152"/>
                </a:lnTo>
                <a:lnTo>
                  <a:pt x="0" y="6081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15781988" y="7960405"/>
            <a:ext cx="2506012" cy="1295400"/>
          </a:xfrm>
          <a:prstGeom prst="rect">
            <a:avLst/>
          </a:prstGeom>
        </p:spPr>
        <p:txBody>
          <a:bodyPr anchor="t" rtlCol="false" tIns="0" lIns="0" bIns="0" rIns="0">
            <a:spAutoFit/>
          </a:bodyPr>
          <a:lstStyle/>
          <a:p>
            <a:pPr algn="ctr">
              <a:lnSpc>
                <a:spcPts val="10500"/>
              </a:lnSpc>
              <a:spcBef>
                <a:spcPct val="0"/>
              </a:spcBef>
            </a:pPr>
            <a:r>
              <a:rPr lang="en-US" b="true" sz="7500">
                <a:solidFill>
                  <a:srgbClr val="F3F3EA"/>
                </a:solidFill>
                <a:latin typeface="Rasputin Bold"/>
                <a:ea typeface="Rasputin Bold"/>
                <a:cs typeface="Rasputin Bold"/>
                <a:sym typeface="Rasputin Bold"/>
              </a:rPr>
              <a:t>04</a:t>
            </a:r>
          </a:p>
        </p:txBody>
      </p:sp>
      <p:grpSp>
        <p:nvGrpSpPr>
          <p:cNvPr name="Group 12" id="12"/>
          <p:cNvGrpSpPr/>
          <p:nvPr/>
        </p:nvGrpSpPr>
        <p:grpSpPr>
          <a:xfrm rot="0">
            <a:off x="16816065" y="3994429"/>
            <a:ext cx="2943871" cy="294387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2C9A9"/>
            </a:solidFill>
          </p:spPr>
        </p:sp>
        <p:sp>
          <p:nvSpPr>
            <p:cNvPr name="TextBox 14" id="14"/>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3072797" y="-1471935"/>
            <a:ext cx="2943871" cy="294387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2C9A9"/>
            </a:solidFill>
          </p:spPr>
        </p:sp>
        <p:sp>
          <p:nvSpPr>
            <p:cNvPr name="TextBox 17" id="17"/>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1710665" y="3615311"/>
            <a:ext cx="14625420" cy="6169489"/>
          </a:xfrm>
          <a:prstGeom prst="rect">
            <a:avLst/>
          </a:prstGeom>
        </p:spPr>
        <p:txBody>
          <a:bodyPr anchor="t" rtlCol="false" tIns="0" lIns="0" bIns="0" rIns="0">
            <a:spAutoFit/>
          </a:bodyPr>
          <a:lstStyle/>
          <a:p>
            <a:pPr algn="just">
              <a:lnSpc>
                <a:spcPts val="4414"/>
              </a:lnSpc>
            </a:pPr>
            <a:r>
              <a:rPr lang="en-US" sz="3153">
                <a:solidFill>
                  <a:srgbClr val="443F2B"/>
                </a:solidFill>
                <a:latin typeface="Codec Pro"/>
                <a:ea typeface="Codec Pro"/>
                <a:cs typeface="Codec Pro"/>
                <a:sym typeface="Codec Pro"/>
              </a:rPr>
              <a:t>Start-up:</a:t>
            </a:r>
          </a:p>
          <a:p>
            <a:pPr algn="just">
              <a:lnSpc>
                <a:spcPts val="4414"/>
              </a:lnSpc>
            </a:pPr>
            <a:r>
              <a:rPr lang="en-US" sz="3153">
                <a:solidFill>
                  <a:srgbClr val="443F2B"/>
                </a:solidFill>
                <a:latin typeface="Codec Pro"/>
                <a:ea typeface="Codec Pro"/>
                <a:cs typeface="Codec Pro"/>
                <a:sym typeface="Codec Pro"/>
              </a:rPr>
              <a:t>At the start of the program the Terms Of Service will appear, then a prompt will appear that asks if the user acknowledges and agrees to the Terms Of Service, if the user agrees, the program will start, if the user disagrees, the program will close.</a:t>
            </a:r>
          </a:p>
          <a:p>
            <a:pPr algn="just">
              <a:lnSpc>
                <a:spcPts val="4414"/>
              </a:lnSpc>
            </a:pPr>
          </a:p>
          <a:p>
            <a:pPr algn="just">
              <a:lnSpc>
                <a:spcPts val="4414"/>
              </a:lnSpc>
            </a:pPr>
            <a:r>
              <a:rPr lang="en-US" sz="3153">
                <a:solidFill>
                  <a:srgbClr val="443F2B"/>
                </a:solidFill>
                <a:latin typeface="Codec Pro"/>
                <a:ea typeface="Codec Pro"/>
                <a:cs typeface="Codec Pro"/>
                <a:sym typeface="Codec Pro"/>
              </a:rPr>
              <a:t>User Profile prompt:</a:t>
            </a:r>
          </a:p>
          <a:p>
            <a:pPr algn="just">
              <a:lnSpc>
                <a:spcPts val="4414"/>
              </a:lnSpc>
              <a:spcBef>
                <a:spcPct val="0"/>
              </a:spcBef>
            </a:pPr>
            <a:r>
              <a:rPr lang="en-US" sz="3153">
                <a:solidFill>
                  <a:srgbClr val="443F2B"/>
                </a:solidFill>
                <a:latin typeface="Codec Pro"/>
                <a:ea typeface="Codec Pro"/>
                <a:cs typeface="Codec Pro"/>
                <a:sym typeface="Codec Pro"/>
              </a:rPr>
              <a:t>When the user has agreed to use the application, multiple prompts will appear asking about the user’s basic information such as age and gender, which will be used for considering the normal, and abnormal data ranges depending on age and gender.</a:t>
            </a:r>
          </a:p>
        </p:txBody>
      </p:sp>
    </p:spTree>
  </p:cSld>
  <p:clrMapOvr>
    <a:masterClrMapping/>
  </p:clrMapOvr>
  <p:transition spd="fast">
    <p:cover dir="l"/>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3F3EA"/>
        </a:solidFill>
      </p:bgPr>
    </p:bg>
    <p:spTree>
      <p:nvGrpSpPr>
        <p:cNvPr id="1" name=""/>
        <p:cNvGrpSpPr/>
        <p:nvPr/>
      </p:nvGrpSpPr>
      <p:grpSpPr>
        <a:xfrm>
          <a:off x="0" y="0"/>
          <a:ext cx="0" cy="0"/>
          <a:chOff x="0" y="0"/>
          <a:chExt cx="0" cy="0"/>
        </a:xfrm>
      </p:grpSpPr>
      <p:grpSp>
        <p:nvGrpSpPr>
          <p:cNvPr name="Group 2" id="2"/>
          <p:cNvGrpSpPr/>
          <p:nvPr/>
        </p:nvGrpSpPr>
        <p:grpSpPr>
          <a:xfrm rot="0">
            <a:off x="0" y="1028700"/>
            <a:ext cx="12200657" cy="2222672"/>
            <a:chOff x="0" y="0"/>
            <a:chExt cx="3213342" cy="585395"/>
          </a:xfrm>
        </p:grpSpPr>
        <p:sp>
          <p:nvSpPr>
            <p:cNvPr name="Freeform 3" id="3">
              <a:extLst>
                <a:ext uri="{C183D7F6-B498-43B3-948B-1728B52AA6E4}">
                  <adec:decorative xmlns:adec="http://schemas.microsoft.com/office/drawing/2017/decorative" val="1"/>
                </a:ext>
              </a:extLst>
            </p:cNvPr>
            <p:cNvSpPr/>
            <p:nvPr/>
          </p:nvSpPr>
          <p:spPr>
            <a:xfrm flipH="false" flipV="false" rot="0">
              <a:off x="0" y="0"/>
              <a:ext cx="3213342" cy="585395"/>
            </a:xfrm>
            <a:custGeom>
              <a:avLst/>
              <a:gdLst/>
              <a:ahLst/>
              <a:cxnLst/>
              <a:rect r="r" b="b" t="t" l="l"/>
              <a:pathLst>
                <a:path h="585395" w="3213342">
                  <a:moveTo>
                    <a:pt x="0" y="0"/>
                  </a:moveTo>
                  <a:lnTo>
                    <a:pt x="3213342" y="0"/>
                  </a:lnTo>
                  <a:lnTo>
                    <a:pt x="3213342" y="585395"/>
                  </a:lnTo>
                  <a:lnTo>
                    <a:pt x="0" y="585395"/>
                  </a:lnTo>
                  <a:close/>
                </a:path>
              </a:pathLst>
            </a:custGeom>
            <a:solidFill>
              <a:srgbClr val="726343"/>
            </a:solidFill>
          </p:spPr>
        </p:sp>
        <p:sp>
          <p:nvSpPr>
            <p:cNvPr name="TextBox 4" id="4"/>
            <p:cNvSpPr txBox="true"/>
            <p:nvPr/>
          </p:nvSpPr>
          <p:spPr>
            <a:xfrm>
              <a:off x="0" y="-38100"/>
              <a:ext cx="3213342" cy="623495"/>
            </a:xfrm>
            <a:prstGeom prst="rect">
              <a:avLst/>
            </a:prstGeom>
          </p:spPr>
          <p:txBody>
            <a:bodyPr anchor="ctr" rtlCol="false" tIns="50800" lIns="50800" bIns="50800" rIns="50800"/>
            <a:lstStyle/>
            <a:p>
              <a:pPr algn="ctr">
                <a:lnSpc>
                  <a:spcPts val="2659"/>
                </a:lnSpc>
              </a:pPr>
            </a:p>
          </p:txBody>
        </p:sp>
      </p:grpSp>
      <p:sp>
        <p:nvSpPr>
          <p:cNvPr name="Freeform 5" id="5">
            <a:extLst>
              <a:ext uri="{C183D7F6-B498-43B3-948B-1728B52AA6E4}">
                <adec:decorative xmlns:adec="http://schemas.microsoft.com/office/drawing/2017/decorative" val="1"/>
              </a:ext>
            </a:extLst>
          </p:cNvPr>
          <p:cNvSpPr/>
          <p:nvPr/>
        </p:nvSpPr>
        <p:spPr>
          <a:xfrm flipH="false" flipV="false" rot="0">
            <a:off x="-5247337" y="1151632"/>
            <a:ext cx="8786563" cy="9135368"/>
          </a:xfrm>
          <a:custGeom>
            <a:avLst/>
            <a:gdLst/>
            <a:ahLst/>
            <a:cxnLst/>
            <a:rect r="r" b="b" t="t" l="l"/>
            <a:pathLst>
              <a:path h="9135368" w="8786563">
                <a:moveTo>
                  <a:pt x="0" y="0"/>
                </a:moveTo>
                <a:lnTo>
                  <a:pt x="8786563" y="0"/>
                </a:lnTo>
                <a:lnTo>
                  <a:pt x="8786563" y="9135368"/>
                </a:lnTo>
                <a:lnTo>
                  <a:pt x="0" y="91353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710665" y="1492131"/>
            <a:ext cx="10489992" cy="1166509"/>
          </a:xfrm>
          <a:prstGeom prst="rect">
            <a:avLst/>
          </a:prstGeom>
        </p:spPr>
        <p:txBody>
          <a:bodyPr anchor="t" rtlCol="false" tIns="0" lIns="0" bIns="0" rIns="0">
            <a:spAutoFit/>
          </a:bodyPr>
          <a:lstStyle/>
          <a:p>
            <a:pPr algn="l">
              <a:lnSpc>
                <a:spcPts val="9426"/>
              </a:lnSpc>
              <a:spcBef>
                <a:spcPct val="0"/>
              </a:spcBef>
            </a:pPr>
            <a:r>
              <a:rPr lang="en-US" sz="6732" b="true">
                <a:solidFill>
                  <a:srgbClr val="F3F3EA"/>
                </a:solidFill>
                <a:latin typeface="Rasputin Bold"/>
                <a:ea typeface="Rasputin Bold"/>
                <a:cs typeface="Rasputin Bold"/>
                <a:sym typeface="Rasputin Bold"/>
              </a:rPr>
              <a:t>Technical Approach</a:t>
            </a:r>
          </a:p>
        </p:txBody>
      </p:sp>
      <p:grpSp>
        <p:nvGrpSpPr>
          <p:cNvPr name="Group 7" id="7"/>
          <p:cNvGrpSpPr/>
          <p:nvPr/>
        </p:nvGrpSpPr>
        <p:grpSpPr>
          <a:xfrm rot="0">
            <a:off x="15890057" y="8027346"/>
            <a:ext cx="2397943" cy="1313917"/>
            <a:chOff x="0" y="0"/>
            <a:chExt cx="631557" cy="346052"/>
          </a:xfrm>
        </p:grpSpPr>
        <p:sp>
          <p:nvSpPr>
            <p:cNvPr name="Freeform 8" id="8">
              <a:extLst>
                <a:ext uri="{C183D7F6-B498-43B3-948B-1728B52AA6E4}">
                  <adec:decorative xmlns:adec="http://schemas.microsoft.com/office/drawing/2017/decorative" val="1"/>
                </a:ext>
              </a:extLst>
            </p:cNvPr>
            <p:cNvSpPr/>
            <p:nvPr/>
          </p:nvSpPr>
          <p:spPr>
            <a:xfrm flipH="false" flipV="false" rot="0">
              <a:off x="0" y="0"/>
              <a:ext cx="631557" cy="346052"/>
            </a:xfrm>
            <a:custGeom>
              <a:avLst/>
              <a:gdLst/>
              <a:ahLst/>
              <a:cxnLst/>
              <a:rect r="r" b="b" t="t" l="l"/>
              <a:pathLst>
                <a:path h="346052" w="631557">
                  <a:moveTo>
                    <a:pt x="0" y="0"/>
                  </a:moveTo>
                  <a:lnTo>
                    <a:pt x="631557" y="0"/>
                  </a:lnTo>
                  <a:lnTo>
                    <a:pt x="631557" y="346052"/>
                  </a:lnTo>
                  <a:lnTo>
                    <a:pt x="0" y="346052"/>
                  </a:lnTo>
                  <a:close/>
                </a:path>
              </a:pathLst>
            </a:custGeom>
            <a:solidFill>
              <a:srgbClr val="CBC4AD"/>
            </a:solidFill>
          </p:spPr>
        </p:sp>
        <p:sp>
          <p:nvSpPr>
            <p:cNvPr name="TextBox 9" id="9"/>
            <p:cNvSpPr txBox="true"/>
            <p:nvPr/>
          </p:nvSpPr>
          <p:spPr>
            <a:xfrm>
              <a:off x="0" y="-38100"/>
              <a:ext cx="631557" cy="384152"/>
            </a:xfrm>
            <a:prstGeom prst="rect">
              <a:avLst/>
            </a:prstGeom>
          </p:spPr>
          <p:txBody>
            <a:bodyPr anchor="ctr" rtlCol="false" tIns="50800" lIns="50800" bIns="50800" rIns="50800"/>
            <a:lstStyle/>
            <a:p>
              <a:pPr algn="ctr">
                <a:lnSpc>
                  <a:spcPts val="2659"/>
                </a:lnSpc>
              </a:pPr>
            </a:p>
          </p:txBody>
        </p:sp>
      </p:grpSp>
      <p:sp>
        <p:nvSpPr>
          <p:cNvPr name="Freeform 10" id="10">
            <a:extLst>
              <a:ext uri="{C183D7F6-B498-43B3-948B-1728B52AA6E4}">
                <adec:decorative xmlns:adec="http://schemas.microsoft.com/office/drawing/2017/decorative" val="1"/>
              </a:ext>
            </a:extLst>
          </p:cNvPr>
          <p:cNvSpPr/>
          <p:nvPr/>
        </p:nvSpPr>
        <p:spPr>
          <a:xfrm flipH="false" flipV="false" rot="0">
            <a:off x="4132778" y="9480724"/>
            <a:ext cx="3935101" cy="608152"/>
          </a:xfrm>
          <a:custGeom>
            <a:avLst/>
            <a:gdLst/>
            <a:ahLst/>
            <a:cxnLst/>
            <a:rect r="r" b="b" t="t" l="l"/>
            <a:pathLst>
              <a:path h="608152" w="3935101">
                <a:moveTo>
                  <a:pt x="0" y="0"/>
                </a:moveTo>
                <a:lnTo>
                  <a:pt x="3935101" y="0"/>
                </a:lnTo>
                <a:lnTo>
                  <a:pt x="3935101" y="608152"/>
                </a:lnTo>
                <a:lnTo>
                  <a:pt x="0" y="6081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15781988" y="7960405"/>
            <a:ext cx="2506012" cy="1295400"/>
          </a:xfrm>
          <a:prstGeom prst="rect">
            <a:avLst/>
          </a:prstGeom>
        </p:spPr>
        <p:txBody>
          <a:bodyPr anchor="t" rtlCol="false" tIns="0" lIns="0" bIns="0" rIns="0">
            <a:spAutoFit/>
          </a:bodyPr>
          <a:lstStyle/>
          <a:p>
            <a:pPr algn="ctr">
              <a:lnSpc>
                <a:spcPts val="10500"/>
              </a:lnSpc>
              <a:spcBef>
                <a:spcPct val="0"/>
              </a:spcBef>
            </a:pPr>
            <a:r>
              <a:rPr lang="en-US" b="true" sz="7500">
                <a:solidFill>
                  <a:srgbClr val="F3F3EA"/>
                </a:solidFill>
                <a:latin typeface="Rasputin Bold"/>
                <a:ea typeface="Rasputin Bold"/>
                <a:cs typeface="Rasputin Bold"/>
                <a:sym typeface="Rasputin Bold"/>
              </a:rPr>
              <a:t>04</a:t>
            </a:r>
          </a:p>
        </p:txBody>
      </p:sp>
      <p:grpSp>
        <p:nvGrpSpPr>
          <p:cNvPr name="Group 12" id="12"/>
          <p:cNvGrpSpPr/>
          <p:nvPr/>
        </p:nvGrpSpPr>
        <p:grpSpPr>
          <a:xfrm rot="0">
            <a:off x="16816065" y="3994429"/>
            <a:ext cx="2943871" cy="294387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2C9A9"/>
            </a:solidFill>
          </p:spPr>
        </p:sp>
        <p:sp>
          <p:nvSpPr>
            <p:cNvPr name="TextBox 14" id="14"/>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3072797" y="-1471935"/>
            <a:ext cx="2943871" cy="294387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2C9A9"/>
            </a:solidFill>
          </p:spPr>
        </p:sp>
        <p:sp>
          <p:nvSpPr>
            <p:cNvPr name="TextBox 17" id="17"/>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2642998" y="4293594"/>
            <a:ext cx="13002005" cy="4390711"/>
          </a:xfrm>
          <a:prstGeom prst="rect">
            <a:avLst/>
          </a:prstGeom>
        </p:spPr>
        <p:txBody>
          <a:bodyPr anchor="t" rtlCol="false" tIns="0" lIns="0" bIns="0" rIns="0">
            <a:spAutoFit/>
          </a:bodyPr>
          <a:lstStyle/>
          <a:p>
            <a:pPr algn="just">
              <a:lnSpc>
                <a:spcPts val="5740"/>
              </a:lnSpc>
            </a:pPr>
            <a:r>
              <a:rPr lang="en-US" sz="4100">
                <a:solidFill>
                  <a:srgbClr val="443F2B"/>
                </a:solidFill>
                <a:latin typeface="Codec Pro"/>
                <a:ea typeface="Codec Pro"/>
                <a:cs typeface="Codec Pro"/>
                <a:sym typeface="Codec Pro"/>
              </a:rPr>
              <a:t>Menu:</a:t>
            </a:r>
          </a:p>
          <a:p>
            <a:pPr algn="just">
              <a:lnSpc>
                <a:spcPts val="5740"/>
              </a:lnSpc>
              <a:spcBef>
                <a:spcPct val="0"/>
              </a:spcBef>
            </a:pPr>
            <a:r>
              <a:rPr lang="en-US" sz="4100">
                <a:solidFill>
                  <a:srgbClr val="443F2B"/>
                </a:solidFill>
                <a:latin typeface="Codec Pro"/>
                <a:ea typeface="Codec Pro"/>
                <a:cs typeface="Codec Pro"/>
                <a:sym typeface="Codec Pro"/>
              </a:rPr>
              <a:t>After the user has completed the User Profile prompt, a menu will appear consisting of the multiple available analyzers and also an exit prompt, this menu repeats after every option, unless it is the exit option which closes the whole program.</a:t>
            </a:r>
          </a:p>
        </p:txBody>
      </p:sp>
    </p:spTree>
  </p:cSld>
  <p:clrMapOvr>
    <a:masterClrMapping/>
  </p:clrMapOvr>
  <p:transition spd="fast">
    <p:cover dir="l"/>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3F3EA"/>
        </a:solidFill>
      </p:bgPr>
    </p:bg>
    <p:spTree>
      <p:nvGrpSpPr>
        <p:cNvPr id="1" name=""/>
        <p:cNvGrpSpPr/>
        <p:nvPr/>
      </p:nvGrpSpPr>
      <p:grpSpPr>
        <a:xfrm>
          <a:off x="0" y="0"/>
          <a:ext cx="0" cy="0"/>
          <a:chOff x="0" y="0"/>
          <a:chExt cx="0" cy="0"/>
        </a:xfrm>
      </p:grpSpPr>
      <p:grpSp>
        <p:nvGrpSpPr>
          <p:cNvPr name="Group 2" id="2"/>
          <p:cNvGrpSpPr/>
          <p:nvPr/>
        </p:nvGrpSpPr>
        <p:grpSpPr>
          <a:xfrm rot="0">
            <a:off x="0" y="1028700"/>
            <a:ext cx="12200657" cy="2222672"/>
            <a:chOff x="0" y="0"/>
            <a:chExt cx="3213342" cy="585395"/>
          </a:xfrm>
        </p:grpSpPr>
        <p:sp>
          <p:nvSpPr>
            <p:cNvPr name="Freeform 3" id="3">
              <a:extLst>
                <a:ext uri="{C183D7F6-B498-43B3-948B-1728B52AA6E4}">
                  <adec:decorative xmlns:adec="http://schemas.microsoft.com/office/drawing/2017/decorative" val="1"/>
                </a:ext>
              </a:extLst>
            </p:cNvPr>
            <p:cNvSpPr/>
            <p:nvPr/>
          </p:nvSpPr>
          <p:spPr>
            <a:xfrm flipH="false" flipV="false" rot="0">
              <a:off x="0" y="0"/>
              <a:ext cx="3213342" cy="585395"/>
            </a:xfrm>
            <a:custGeom>
              <a:avLst/>
              <a:gdLst/>
              <a:ahLst/>
              <a:cxnLst/>
              <a:rect r="r" b="b" t="t" l="l"/>
              <a:pathLst>
                <a:path h="585395" w="3213342">
                  <a:moveTo>
                    <a:pt x="0" y="0"/>
                  </a:moveTo>
                  <a:lnTo>
                    <a:pt x="3213342" y="0"/>
                  </a:lnTo>
                  <a:lnTo>
                    <a:pt x="3213342" y="585395"/>
                  </a:lnTo>
                  <a:lnTo>
                    <a:pt x="0" y="585395"/>
                  </a:lnTo>
                  <a:close/>
                </a:path>
              </a:pathLst>
            </a:custGeom>
            <a:solidFill>
              <a:srgbClr val="726343"/>
            </a:solidFill>
          </p:spPr>
        </p:sp>
        <p:sp>
          <p:nvSpPr>
            <p:cNvPr name="TextBox 4" id="4"/>
            <p:cNvSpPr txBox="true"/>
            <p:nvPr/>
          </p:nvSpPr>
          <p:spPr>
            <a:xfrm>
              <a:off x="0" y="-38100"/>
              <a:ext cx="3213342" cy="623495"/>
            </a:xfrm>
            <a:prstGeom prst="rect">
              <a:avLst/>
            </a:prstGeom>
          </p:spPr>
          <p:txBody>
            <a:bodyPr anchor="ctr" rtlCol="false" tIns="50800" lIns="50800" bIns="50800" rIns="50800"/>
            <a:lstStyle/>
            <a:p>
              <a:pPr algn="ctr">
                <a:lnSpc>
                  <a:spcPts val="2659"/>
                </a:lnSpc>
              </a:pPr>
            </a:p>
          </p:txBody>
        </p:sp>
      </p:grpSp>
      <p:sp>
        <p:nvSpPr>
          <p:cNvPr name="Freeform 5" id="5">
            <a:extLst>
              <a:ext uri="{C183D7F6-B498-43B3-948B-1728B52AA6E4}">
                <adec:decorative xmlns:adec="http://schemas.microsoft.com/office/drawing/2017/decorative" val="1"/>
              </a:ext>
            </a:extLst>
          </p:cNvPr>
          <p:cNvSpPr/>
          <p:nvPr/>
        </p:nvSpPr>
        <p:spPr>
          <a:xfrm flipH="false" flipV="false" rot="0">
            <a:off x="-5247337" y="1151632"/>
            <a:ext cx="8786563" cy="9135368"/>
          </a:xfrm>
          <a:custGeom>
            <a:avLst/>
            <a:gdLst/>
            <a:ahLst/>
            <a:cxnLst/>
            <a:rect r="r" b="b" t="t" l="l"/>
            <a:pathLst>
              <a:path h="9135368" w="8786563">
                <a:moveTo>
                  <a:pt x="0" y="0"/>
                </a:moveTo>
                <a:lnTo>
                  <a:pt x="8786563" y="0"/>
                </a:lnTo>
                <a:lnTo>
                  <a:pt x="8786563" y="9135368"/>
                </a:lnTo>
                <a:lnTo>
                  <a:pt x="0" y="91353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710665" y="1492131"/>
            <a:ext cx="10489992" cy="1166509"/>
          </a:xfrm>
          <a:prstGeom prst="rect">
            <a:avLst/>
          </a:prstGeom>
        </p:spPr>
        <p:txBody>
          <a:bodyPr anchor="t" rtlCol="false" tIns="0" lIns="0" bIns="0" rIns="0">
            <a:spAutoFit/>
          </a:bodyPr>
          <a:lstStyle/>
          <a:p>
            <a:pPr algn="l">
              <a:lnSpc>
                <a:spcPts val="9426"/>
              </a:lnSpc>
              <a:spcBef>
                <a:spcPct val="0"/>
              </a:spcBef>
            </a:pPr>
            <a:r>
              <a:rPr lang="en-US" sz="6732" b="true">
                <a:solidFill>
                  <a:srgbClr val="F3F3EA"/>
                </a:solidFill>
                <a:latin typeface="Rasputin Bold"/>
                <a:ea typeface="Rasputin Bold"/>
                <a:cs typeface="Rasputin Bold"/>
                <a:sym typeface="Rasputin Bold"/>
              </a:rPr>
              <a:t>Technical Approach</a:t>
            </a:r>
          </a:p>
        </p:txBody>
      </p:sp>
      <p:grpSp>
        <p:nvGrpSpPr>
          <p:cNvPr name="Group 7" id="7"/>
          <p:cNvGrpSpPr/>
          <p:nvPr/>
        </p:nvGrpSpPr>
        <p:grpSpPr>
          <a:xfrm rot="0">
            <a:off x="15890057" y="8027346"/>
            <a:ext cx="2397943" cy="1313917"/>
            <a:chOff x="0" y="0"/>
            <a:chExt cx="631557" cy="346052"/>
          </a:xfrm>
        </p:grpSpPr>
        <p:sp>
          <p:nvSpPr>
            <p:cNvPr name="Freeform 8" id="8">
              <a:extLst>
                <a:ext uri="{C183D7F6-B498-43B3-948B-1728B52AA6E4}">
                  <adec:decorative xmlns:adec="http://schemas.microsoft.com/office/drawing/2017/decorative" val="1"/>
                </a:ext>
              </a:extLst>
            </p:cNvPr>
            <p:cNvSpPr/>
            <p:nvPr/>
          </p:nvSpPr>
          <p:spPr>
            <a:xfrm flipH="false" flipV="false" rot="0">
              <a:off x="0" y="0"/>
              <a:ext cx="631557" cy="346052"/>
            </a:xfrm>
            <a:custGeom>
              <a:avLst/>
              <a:gdLst/>
              <a:ahLst/>
              <a:cxnLst/>
              <a:rect r="r" b="b" t="t" l="l"/>
              <a:pathLst>
                <a:path h="346052" w="631557">
                  <a:moveTo>
                    <a:pt x="0" y="0"/>
                  </a:moveTo>
                  <a:lnTo>
                    <a:pt x="631557" y="0"/>
                  </a:lnTo>
                  <a:lnTo>
                    <a:pt x="631557" y="346052"/>
                  </a:lnTo>
                  <a:lnTo>
                    <a:pt x="0" y="346052"/>
                  </a:lnTo>
                  <a:close/>
                </a:path>
              </a:pathLst>
            </a:custGeom>
            <a:solidFill>
              <a:srgbClr val="CBC4AD"/>
            </a:solidFill>
          </p:spPr>
        </p:sp>
        <p:sp>
          <p:nvSpPr>
            <p:cNvPr name="TextBox 9" id="9"/>
            <p:cNvSpPr txBox="true"/>
            <p:nvPr/>
          </p:nvSpPr>
          <p:spPr>
            <a:xfrm>
              <a:off x="0" y="-38100"/>
              <a:ext cx="631557" cy="384152"/>
            </a:xfrm>
            <a:prstGeom prst="rect">
              <a:avLst/>
            </a:prstGeom>
          </p:spPr>
          <p:txBody>
            <a:bodyPr anchor="ctr" rtlCol="false" tIns="50800" lIns="50800" bIns="50800" rIns="50800"/>
            <a:lstStyle/>
            <a:p>
              <a:pPr algn="ctr">
                <a:lnSpc>
                  <a:spcPts val="2659"/>
                </a:lnSpc>
              </a:pPr>
            </a:p>
          </p:txBody>
        </p:sp>
      </p:grpSp>
      <p:sp>
        <p:nvSpPr>
          <p:cNvPr name="Freeform 10" id="10">
            <a:extLst>
              <a:ext uri="{C183D7F6-B498-43B3-948B-1728B52AA6E4}">
                <adec:decorative xmlns:adec="http://schemas.microsoft.com/office/drawing/2017/decorative" val="1"/>
              </a:ext>
            </a:extLst>
          </p:cNvPr>
          <p:cNvSpPr/>
          <p:nvPr/>
        </p:nvSpPr>
        <p:spPr>
          <a:xfrm flipH="false" flipV="false" rot="0">
            <a:off x="4132778" y="9480724"/>
            <a:ext cx="3935101" cy="608152"/>
          </a:xfrm>
          <a:custGeom>
            <a:avLst/>
            <a:gdLst/>
            <a:ahLst/>
            <a:cxnLst/>
            <a:rect r="r" b="b" t="t" l="l"/>
            <a:pathLst>
              <a:path h="608152" w="3935101">
                <a:moveTo>
                  <a:pt x="0" y="0"/>
                </a:moveTo>
                <a:lnTo>
                  <a:pt x="3935101" y="0"/>
                </a:lnTo>
                <a:lnTo>
                  <a:pt x="3935101" y="608152"/>
                </a:lnTo>
                <a:lnTo>
                  <a:pt x="0" y="6081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15781988" y="7960405"/>
            <a:ext cx="2506012" cy="1295400"/>
          </a:xfrm>
          <a:prstGeom prst="rect">
            <a:avLst/>
          </a:prstGeom>
        </p:spPr>
        <p:txBody>
          <a:bodyPr anchor="t" rtlCol="false" tIns="0" lIns="0" bIns="0" rIns="0">
            <a:spAutoFit/>
          </a:bodyPr>
          <a:lstStyle/>
          <a:p>
            <a:pPr algn="ctr">
              <a:lnSpc>
                <a:spcPts val="10500"/>
              </a:lnSpc>
              <a:spcBef>
                <a:spcPct val="0"/>
              </a:spcBef>
            </a:pPr>
            <a:r>
              <a:rPr lang="en-US" b="true" sz="7500">
                <a:solidFill>
                  <a:srgbClr val="F3F3EA"/>
                </a:solidFill>
                <a:latin typeface="Rasputin Bold"/>
                <a:ea typeface="Rasputin Bold"/>
                <a:cs typeface="Rasputin Bold"/>
                <a:sym typeface="Rasputin Bold"/>
              </a:rPr>
              <a:t>04</a:t>
            </a:r>
          </a:p>
        </p:txBody>
      </p:sp>
      <p:grpSp>
        <p:nvGrpSpPr>
          <p:cNvPr name="Group 12" id="12"/>
          <p:cNvGrpSpPr/>
          <p:nvPr/>
        </p:nvGrpSpPr>
        <p:grpSpPr>
          <a:xfrm rot="0">
            <a:off x="16816065" y="3994429"/>
            <a:ext cx="2943871" cy="294387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2C9A9"/>
            </a:solidFill>
          </p:spPr>
        </p:sp>
        <p:sp>
          <p:nvSpPr>
            <p:cNvPr name="TextBox 14" id="14"/>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3072797" y="-1471935"/>
            <a:ext cx="2943871" cy="294387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2C9A9"/>
            </a:solidFill>
          </p:spPr>
        </p:sp>
        <p:sp>
          <p:nvSpPr>
            <p:cNvPr name="TextBox 17" id="17"/>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1113552" y="3422822"/>
            <a:ext cx="16060896" cy="6471363"/>
          </a:xfrm>
          <a:prstGeom prst="rect">
            <a:avLst/>
          </a:prstGeom>
        </p:spPr>
        <p:txBody>
          <a:bodyPr anchor="t" rtlCol="false" tIns="0" lIns="0" bIns="0" rIns="0">
            <a:spAutoFit/>
          </a:bodyPr>
          <a:lstStyle/>
          <a:p>
            <a:pPr algn="just">
              <a:lnSpc>
                <a:spcPts val="3153"/>
              </a:lnSpc>
            </a:pPr>
            <a:r>
              <a:rPr lang="en-US" sz="3153">
                <a:solidFill>
                  <a:srgbClr val="443F2B"/>
                </a:solidFill>
                <a:latin typeface="Codec Pro"/>
                <a:ea typeface="Codec Pro"/>
                <a:cs typeface="Codec Pro"/>
                <a:sym typeface="Codec Pro"/>
              </a:rPr>
              <a:t>Glucose Tests analyzer: </a:t>
            </a:r>
          </a:p>
          <a:p>
            <a:pPr algn="just">
              <a:lnSpc>
                <a:spcPts val="3153"/>
              </a:lnSpc>
            </a:pPr>
            <a:r>
              <a:rPr lang="en-US" sz="3153">
                <a:solidFill>
                  <a:srgbClr val="443F2B"/>
                </a:solidFill>
                <a:latin typeface="Codec Pro"/>
                <a:ea typeface="Codec Pro"/>
                <a:cs typeface="Codec Pro"/>
                <a:sym typeface="Codec Pro"/>
              </a:rPr>
              <a:t>Upon being chosen by the user, the user is required to put raw data gathered from the glucose test result within the given parameters. Mainly their, </a:t>
            </a:r>
          </a:p>
          <a:p>
            <a:pPr algn="just">
              <a:lnSpc>
                <a:spcPts val="3153"/>
              </a:lnSpc>
            </a:pPr>
          </a:p>
          <a:p>
            <a:pPr algn="just">
              <a:lnSpc>
                <a:spcPts val="3153"/>
              </a:lnSpc>
            </a:pPr>
            <a:r>
              <a:rPr lang="en-US" sz="3153">
                <a:solidFill>
                  <a:srgbClr val="443F2B"/>
                </a:solidFill>
                <a:latin typeface="Codec Pro"/>
                <a:ea typeface="Codec Pro"/>
                <a:cs typeface="Codec Pro"/>
                <a:sym typeface="Codec Pro"/>
              </a:rPr>
              <a:t>Glucose level: _ Mg/dL</a:t>
            </a:r>
          </a:p>
          <a:p>
            <a:pPr algn="just">
              <a:lnSpc>
                <a:spcPts val="3153"/>
              </a:lnSpc>
            </a:pPr>
            <a:r>
              <a:rPr lang="en-US" sz="3153">
                <a:solidFill>
                  <a:srgbClr val="443F2B"/>
                </a:solidFill>
                <a:latin typeface="Codec Pro"/>
                <a:ea typeface="Codec Pro"/>
                <a:cs typeface="Codec Pro"/>
                <a:sym typeface="Codec Pro"/>
              </a:rPr>
              <a:t>Most recent food eaten: _</a:t>
            </a:r>
          </a:p>
          <a:p>
            <a:pPr algn="just">
              <a:lnSpc>
                <a:spcPts val="3153"/>
              </a:lnSpc>
            </a:pPr>
          </a:p>
          <a:p>
            <a:pPr algn="just">
              <a:lnSpc>
                <a:spcPts val="3153"/>
              </a:lnSpc>
            </a:pPr>
            <a:r>
              <a:rPr lang="en-US" sz="3153">
                <a:solidFill>
                  <a:srgbClr val="443F2B"/>
                </a:solidFill>
                <a:latin typeface="Codec Pro"/>
                <a:ea typeface="Codec Pro"/>
                <a:cs typeface="Codec Pro"/>
                <a:sym typeface="Codec Pro"/>
              </a:rPr>
              <a:t>After doing so, they should press the add data prompt (located below the parameter). </a:t>
            </a:r>
          </a:p>
          <a:p>
            <a:pPr algn="just">
              <a:lnSpc>
                <a:spcPts val="3153"/>
              </a:lnSpc>
            </a:pPr>
            <a:r>
              <a:rPr lang="en-US" sz="3153">
                <a:solidFill>
                  <a:srgbClr val="443F2B"/>
                </a:solidFill>
                <a:latin typeface="Codec Pro"/>
                <a:ea typeface="Codec Pro"/>
                <a:cs typeface="Codec Pro"/>
                <a:sym typeface="Codec Pro"/>
              </a:rPr>
              <a:t>Then the program compares the user's data to the reference value correlated to the user’s profile.</a:t>
            </a:r>
          </a:p>
          <a:p>
            <a:pPr algn="just">
              <a:lnSpc>
                <a:spcPts val="3153"/>
              </a:lnSpc>
            </a:pPr>
          </a:p>
          <a:p>
            <a:pPr algn="just">
              <a:lnSpc>
                <a:spcPts val="3153"/>
              </a:lnSpc>
            </a:pPr>
            <a:r>
              <a:rPr lang="en-US" sz="3153">
                <a:solidFill>
                  <a:srgbClr val="443F2B"/>
                </a:solidFill>
                <a:latin typeface="Codec Pro"/>
                <a:ea typeface="Codec Pro"/>
                <a:cs typeface="Codec Pro"/>
                <a:sym typeface="Codec Pro"/>
              </a:rPr>
              <a:t>The program will then give advice based on the user’s data, whether their results are normal, low, high, or abnormal.</a:t>
            </a:r>
          </a:p>
          <a:p>
            <a:pPr algn="just">
              <a:lnSpc>
                <a:spcPts val="3153"/>
              </a:lnSpc>
            </a:pPr>
          </a:p>
          <a:p>
            <a:pPr algn="just">
              <a:lnSpc>
                <a:spcPts val="3153"/>
              </a:lnSpc>
            </a:pPr>
            <a:r>
              <a:rPr lang="en-US" sz="3153">
                <a:solidFill>
                  <a:srgbClr val="443F2B"/>
                </a:solidFill>
                <a:latin typeface="Codec Pro"/>
                <a:ea typeface="Codec Pro"/>
                <a:cs typeface="Codec Pro"/>
                <a:sym typeface="Codec Pro"/>
              </a:rPr>
              <a:t>After output, a return menu prompt will appear.</a:t>
            </a:r>
          </a:p>
        </p:txBody>
      </p:sp>
    </p:spTree>
  </p:cSld>
  <p:clrMapOvr>
    <a:masterClrMapping/>
  </p:clrMapOvr>
  <p:transition spd="fast">
    <p:cover dir="l"/>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3F3EA"/>
        </a:solidFill>
      </p:bgPr>
    </p:bg>
    <p:spTree>
      <p:nvGrpSpPr>
        <p:cNvPr id="1" name=""/>
        <p:cNvGrpSpPr/>
        <p:nvPr/>
      </p:nvGrpSpPr>
      <p:grpSpPr>
        <a:xfrm>
          <a:off x="0" y="0"/>
          <a:ext cx="0" cy="0"/>
          <a:chOff x="0" y="0"/>
          <a:chExt cx="0" cy="0"/>
        </a:xfrm>
      </p:grpSpPr>
      <p:grpSp>
        <p:nvGrpSpPr>
          <p:cNvPr name="Group 2" id="2"/>
          <p:cNvGrpSpPr/>
          <p:nvPr/>
        </p:nvGrpSpPr>
        <p:grpSpPr>
          <a:xfrm rot="0">
            <a:off x="0" y="1028700"/>
            <a:ext cx="12200657" cy="2222672"/>
            <a:chOff x="0" y="0"/>
            <a:chExt cx="3213342" cy="585395"/>
          </a:xfrm>
        </p:grpSpPr>
        <p:sp>
          <p:nvSpPr>
            <p:cNvPr name="Freeform 3" id="3">
              <a:extLst>
                <a:ext uri="{C183D7F6-B498-43B3-948B-1728B52AA6E4}">
                  <adec:decorative xmlns:adec="http://schemas.microsoft.com/office/drawing/2017/decorative" val="1"/>
                </a:ext>
              </a:extLst>
            </p:cNvPr>
            <p:cNvSpPr/>
            <p:nvPr/>
          </p:nvSpPr>
          <p:spPr>
            <a:xfrm flipH="false" flipV="false" rot="0">
              <a:off x="0" y="0"/>
              <a:ext cx="3213342" cy="585395"/>
            </a:xfrm>
            <a:custGeom>
              <a:avLst/>
              <a:gdLst/>
              <a:ahLst/>
              <a:cxnLst/>
              <a:rect r="r" b="b" t="t" l="l"/>
              <a:pathLst>
                <a:path h="585395" w="3213342">
                  <a:moveTo>
                    <a:pt x="0" y="0"/>
                  </a:moveTo>
                  <a:lnTo>
                    <a:pt x="3213342" y="0"/>
                  </a:lnTo>
                  <a:lnTo>
                    <a:pt x="3213342" y="585395"/>
                  </a:lnTo>
                  <a:lnTo>
                    <a:pt x="0" y="585395"/>
                  </a:lnTo>
                  <a:close/>
                </a:path>
              </a:pathLst>
            </a:custGeom>
            <a:solidFill>
              <a:srgbClr val="726343"/>
            </a:solidFill>
          </p:spPr>
        </p:sp>
        <p:sp>
          <p:nvSpPr>
            <p:cNvPr name="TextBox 4" id="4"/>
            <p:cNvSpPr txBox="true"/>
            <p:nvPr/>
          </p:nvSpPr>
          <p:spPr>
            <a:xfrm>
              <a:off x="0" y="-38100"/>
              <a:ext cx="3213342" cy="623495"/>
            </a:xfrm>
            <a:prstGeom prst="rect">
              <a:avLst/>
            </a:prstGeom>
          </p:spPr>
          <p:txBody>
            <a:bodyPr anchor="ctr" rtlCol="false" tIns="50800" lIns="50800" bIns="50800" rIns="50800"/>
            <a:lstStyle/>
            <a:p>
              <a:pPr algn="ctr">
                <a:lnSpc>
                  <a:spcPts val="2659"/>
                </a:lnSpc>
              </a:pPr>
            </a:p>
          </p:txBody>
        </p:sp>
      </p:grpSp>
      <p:sp>
        <p:nvSpPr>
          <p:cNvPr name="Freeform 5" id="5">
            <a:extLst>
              <a:ext uri="{C183D7F6-B498-43B3-948B-1728B52AA6E4}">
                <adec:decorative xmlns:adec="http://schemas.microsoft.com/office/drawing/2017/decorative" val="1"/>
              </a:ext>
            </a:extLst>
          </p:cNvPr>
          <p:cNvSpPr/>
          <p:nvPr/>
        </p:nvSpPr>
        <p:spPr>
          <a:xfrm flipH="false" flipV="false" rot="0">
            <a:off x="-5247337" y="1151632"/>
            <a:ext cx="8786563" cy="9135368"/>
          </a:xfrm>
          <a:custGeom>
            <a:avLst/>
            <a:gdLst/>
            <a:ahLst/>
            <a:cxnLst/>
            <a:rect r="r" b="b" t="t" l="l"/>
            <a:pathLst>
              <a:path h="9135368" w="8786563">
                <a:moveTo>
                  <a:pt x="0" y="0"/>
                </a:moveTo>
                <a:lnTo>
                  <a:pt x="8786563" y="0"/>
                </a:lnTo>
                <a:lnTo>
                  <a:pt x="8786563" y="9135368"/>
                </a:lnTo>
                <a:lnTo>
                  <a:pt x="0" y="91353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710665" y="1492131"/>
            <a:ext cx="10489992" cy="1166509"/>
          </a:xfrm>
          <a:prstGeom prst="rect">
            <a:avLst/>
          </a:prstGeom>
        </p:spPr>
        <p:txBody>
          <a:bodyPr anchor="t" rtlCol="false" tIns="0" lIns="0" bIns="0" rIns="0">
            <a:spAutoFit/>
          </a:bodyPr>
          <a:lstStyle/>
          <a:p>
            <a:pPr algn="l">
              <a:lnSpc>
                <a:spcPts val="9426"/>
              </a:lnSpc>
              <a:spcBef>
                <a:spcPct val="0"/>
              </a:spcBef>
            </a:pPr>
            <a:r>
              <a:rPr lang="en-US" sz="6732" b="true">
                <a:solidFill>
                  <a:srgbClr val="F3F3EA"/>
                </a:solidFill>
                <a:latin typeface="Rasputin Bold"/>
                <a:ea typeface="Rasputin Bold"/>
                <a:cs typeface="Rasputin Bold"/>
                <a:sym typeface="Rasputin Bold"/>
              </a:rPr>
              <a:t>Technical Approach</a:t>
            </a:r>
          </a:p>
        </p:txBody>
      </p:sp>
      <p:grpSp>
        <p:nvGrpSpPr>
          <p:cNvPr name="Group 7" id="7"/>
          <p:cNvGrpSpPr/>
          <p:nvPr/>
        </p:nvGrpSpPr>
        <p:grpSpPr>
          <a:xfrm rot="0">
            <a:off x="15890057" y="8027346"/>
            <a:ext cx="2397943" cy="1313917"/>
            <a:chOff x="0" y="0"/>
            <a:chExt cx="631557" cy="346052"/>
          </a:xfrm>
        </p:grpSpPr>
        <p:sp>
          <p:nvSpPr>
            <p:cNvPr name="Freeform 8" id="8">
              <a:extLst>
                <a:ext uri="{C183D7F6-B498-43B3-948B-1728B52AA6E4}">
                  <adec:decorative xmlns:adec="http://schemas.microsoft.com/office/drawing/2017/decorative" val="1"/>
                </a:ext>
              </a:extLst>
            </p:cNvPr>
            <p:cNvSpPr/>
            <p:nvPr/>
          </p:nvSpPr>
          <p:spPr>
            <a:xfrm flipH="false" flipV="false" rot="0">
              <a:off x="0" y="0"/>
              <a:ext cx="631557" cy="346052"/>
            </a:xfrm>
            <a:custGeom>
              <a:avLst/>
              <a:gdLst/>
              <a:ahLst/>
              <a:cxnLst/>
              <a:rect r="r" b="b" t="t" l="l"/>
              <a:pathLst>
                <a:path h="346052" w="631557">
                  <a:moveTo>
                    <a:pt x="0" y="0"/>
                  </a:moveTo>
                  <a:lnTo>
                    <a:pt x="631557" y="0"/>
                  </a:lnTo>
                  <a:lnTo>
                    <a:pt x="631557" y="346052"/>
                  </a:lnTo>
                  <a:lnTo>
                    <a:pt x="0" y="346052"/>
                  </a:lnTo>
                  <a:close/>
                </a:path>
              </a:pathLst>
            </a:custGeom>
            <a:solidFill>
              <a:srgbClr val="CBC4AD"/>
            </a:solidFill>
          </p:spPr>
        </p:sp>
        <p:sp>
          <p:nvSpPr>
            <p:cNvPr name="TextBox 9" id="9"/>
            <p:cNvSpPr txBox="true"/>
            <p:nvPr/>
          </p:nvSpPr>
          <p:spPr>
            <a:xfrm>
              <a:off x="0" y="-38100"/>
              <a:ext cx="631557" cy="384152"/>
            </a:xfrm>
            <a:prstGeom prst="rect">
              <a:avLst/>
            </a:prstGeom>
          </p:spPr>
          <p:txBody>
            <a:bodyPr anchor="ctr" rtlCol="false" tIns="50800" lIns="50800" bIns="50800" rIns="50800"/>
            <a:lstStyle/>
            <a:p>
              <a:pPr algn="ctr">
                <a:lnSpc>
                  <a:spcPts val="2659"/>
                </a:lnSpc>
              </a:pPr>
            </a:p>
          </p:txBody>
        </p:sp>
      </p:grpSp>
      <p:sp>
        <p:nvSpPr>
          <p:cNvPr name="Freeform 10" id="10">
            <a:extLst>
              <a:ext uri="{C183D7F6-B498-43B3-948B-1728B52AA6E4}">
                <adec:decorative xmlns:adec="http://schemas.microsoft.com/office/drawing/2017/decorative" val="1"/>
              </a:ext>
            </a:extLst>
          </p:cNvPr>
          <p:cNvSpPr/>
          <p:nvPr/>
        </p:nvSpPr>
        <p:spPr>
          <a:xfrm flipH="false" flipV="false" rot="0">
            <a:off x="4132778" y="9480724"/>
            <a:ext cx="3935101" cy="608152"/>
          </a:xfrm>
          <a:custGeom>
            <a:avLst/>
            <a:gdLst/>
            <a:ahLst/>
            <a:cxnLst/>
            <a:rect r="r" b="b" t="t" l="l"/>
            <a:pathLst>
              <a:path h="608152" w="3935101">
                <a:moveTo>
                  <a:pt x="0" y="0"/>
                </a:moveTo>
                <a:lnTo>
                  <a:pt x="3935101" y="0"/>
                </a:lnTo>
                <a:lnTo>
                  <a:pt x="3935101" y="608152"/>
                </a:lnTo>
                <a:lnTo>
                  <a:pt x="0" y="6081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15781988" y="7960405"/>
            <a:ext cx="2506012" cy="1295400"/>
          </a:xfrm>
          <a:prstGeom prst="rect">
            <a:avLst/>
          </a:prstGeom>
        </p:spPr>
        <p:txBody>
          <a:bodyPr anchor="t" rtlCol="false" tIns="0" lIns="0" bIns="0" rIns="0">
            <a:spAutoFit/>
          </a:bodyPr>
          <a:lstStyle/>
          <a:p>
            <a:pPr algn="ctr">
              <a:lnSpc>
                <a:spcPts val="10500"/>
              </a:lnSpc>
              <a:spcBef>
                <a:spcPct val="0"/>
              </a:spcBef>
            </a:pPr>
            <a:r>
              <a:rPr lang="en-US" b="true" sz="7500">
                <a:solidFill>
                  <a:srgbClr val="F3F3EA"/>
                </a:solidFill>
                <a:latin typeface="Rasputin Bold"/>
                <a:ea typeface="Rasputin Bold"/>
                <a:cs typeface="Rasputin Bold"/>
                <a:sym typeface="Rasputin Bold"/>
              </a:rPr>
              <a:t>04</a:t>
            </a:r>
          </a:p>
        </p:txBody>
      </p:sp>
      <p:grpSp>
        <p:nvGrpSpPr>
          <p:cNvPr name="Group 12" id="12"/>
          <p:cNvGrpSpPr/>
          <p:nvPr/>
        </p:nvGrpSpPr>
        <p:grpSpPr>
          <a:xfrm rot="0">
            <a:off x="16816065" y="3994429"/>
            <a:ext cx="2943871" cy="294387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2C9A9"/>
            </a:solidFill>
          </p:spPr>
        </p:sp>
        <p:sp>
          <p:nvSpPr>
            <p:cNvPr name="TextBox 14" id="14"/>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3072797" y="-1471935"/>
            <a:ext cx="2943871" cy="294387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2C9A9"/>
            </a:solidFill>
          </p:spPr>
        </p:sp>
        <p:sp>
          <p:nvSpPr>
            <p:cNvPr name="TextBox 17" id="17"/>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786263" y="3215173"/>
            <a:ext cx="16715474" cy="6873703"/>
          </a:xfrm>
          <a:prstGeom prst="rect">
            <a:avLst/>
          </a:prstGeom>
        </p:spPr>
        <p:txBody>
          <a:bodyPr anchor="t" rtlCol="false" tIns="0" lIns="0" bIns="0" rIns="0">
            <a:spAutoFit/>
          </a:bodyPr>
          <a:lstStyle/>
          <a:p>
            <a:pPr algn="just">
              <a:lnSpc>
                <a:spcPts val="2440"/>
              </a:lnSpc>
            </a:pPr>
            <a:r>
              <a:rPr lang="en-US" sz="2440">
                <a:solidFill>
                  <a:srgbClr val="443F2B"/>
                </a:solidFill>
                <a:latin typeface="Codec Pro"/>
                <a:ea typeface="Codec Pro"/>
                <a:cs typeface="Codec Pro"/>
                <a:sym typeface="Codec Pro"/>
              </a:rPr>
              <a:t>CBC analyzer:</a:t>
            </a:r>
          </a:p>
          <a:p>
            <a:pPr algn="just">
              <a:lnSpc>
                <a:spcPts val="2440"/>
              </a:lnSpc>
            </a:pPr>
            <a:r>
              <a:rPr lang="en-US" sz="2440">
                <a:solidFill>
                  <a:srgbClr val="443F2B"/>
                </a:solidFill>
                <a:latin typeface="Codec Pro"/>
                <a:ea typeface="Codec Pro"/>
                <a:cs typeface="Codec Pro"/>
                <a:sym typeface="Codec Pro"/>
              </a:rPr>
              <a:t>Upon being chosen by the user, the user is required to manually put raw data from their cbc test within the matching parameters. Mainly, their:</a:t>
            </a:r>
          </a:p>
          <a:p>
            <a:pPr algn="just">
              <a:lnSpc>
                <a:spcPts val="2440"/>
              </a:lnSpc>
            </a:pPr>
          </a:p>
          <a:p>
            <a:pPr algn="just">
              <a:lnSpc>
                <a:spcPts val="2440"/>
              </a:lnSpc>
            </a:pPr>
            <a:r>
              <a:rPr lang="en-US" sz="2440">
                <a:solidFill>
                  <a:srgbClr val="443F2B"/>
                </a:solidFill>
                <a:latin typeface="Codec Pro"/>
                <a:ea typeface="Codec Pro"/>
                <a:cs typeface="Codec Pro"/>
                <a:sym typeface="Codec Pro"/>
              </a:rPr>
              <a:t>RBC (Red blood cells): _ M/uL</a:t>
            </a:r>
          </a:p>
          <a:p>
            <a:pPr algn="just">
              <a:lnSpc>
                <a:spcPts val="2440"/>
              </a:lnSpc>
            </a:pPr>
            <a:r>
              <a:rPr lang="en-US" sz="2440">
                <a:solidFill>
                  <a:srgbClr val="443F2B"/>
                </a:solidFill>
                <a:latin typeface="Codec Pro"/>
                <a:ea typeface="Codec Pro"/>
                <a:cs typeface="Codec Pro"/>
                <a:sym typeface="Codec Pro"/>
              </a:rPr>
              <a:t>WBC (White blood cells): _ K/uL</a:t>
            </a:r>
          </a:p>
          <a:p>
            <a:pPr algn="just">
              <a:lnSpc>
                <a:spcPts val="2440"/>
              </a:lnSpc>
            </a:pPr>
            <a:r>
              <a:rPr lang="en-US" sz="2440">
                <a:solidFill>
                  <a:srgbClr val="443F2B"/>
                </a:solidFill>
                <a:latin typeface="Codec Pro"/>
                <a:ea typeface="Codec Pro"/>
                <a:cs typeface="Codec Pro"/>
                <a:sym typeface="Codec Pro"/>
              </a:rPr>
              <a:t>MCH (Mean corpuscular hemoglobin): _ pg</a:t>
            </a:r>
          </a:p>
          <a:p>
            <a:pPr algn="just">
              <a:lnSpc>
                <a:spcPts val="2440"/>
              </a:lnSpc>
            </a:pPr>
            <a:r>
              <a:rPr lang="en-US" sz="2440">
                <a:solidFill>
                  <a:srgbClr val="443F2B"/>
                </a:solidFill>
                <a:latin typeface="Codec Pro"/>
                <a:ea typeface="Codec Pro"/>
                <a:cs typeface="Codec Pro"/>
                <a:sym typeface="Codec Pro"/>
              </a:rPr>
              <a:t>MCHC (Mean corpuscular hemoglobin concentration): _ g/dL</a:t>
            </a:r>
          </a:p>
          <a:p>
            <a:pPr algn="just">
              <a:lnSpc>
                <a:spcPts val="2440"/>
              </a:lnSpc>
            </a:pPr>
            <a:r>
              <a:rPr lang="en-US" sz="2440">
                <a:solidFill>
                  <a:srgbClr val="443F2B"/>
                </a:solidFill>
                <a:latin typeface="Codec Pro"/>
                <a:ea typeface="Codec Pro"/>
                <a:cs typeface="Codec Pro"/>
                <a:sym typeface="Codec Pro"/>
              </a:rPr>
              <a:t>MPV (Mean platelet volume): _ fL</a:t>
            </a:r>
          </a:p>
          <a:p>
            <a:pPr algn="just">
              <a:lnSpc>
                <a:spcPts val="2440"/>
              </a:lnSpc>
            </a:pPr>
            <a:r>
              <a:rPr lang="en-US" sz="2440">
                <a:solidFill>
                  <a:srgbClr val="443F2B"/>
                </a:solidFill>
                <a:latin typeface="Codec Pro"/>
                <a:ea typeface="Codec Pro"/>
                <a:cs typeface="Codec Pro"/>
                <a:sym typeface="Codec Pro"/>
              </a:rPr>
              <a:t>RDW (Red cell distribution width): _ %</a:t>
            </a:r>
          </a:p>
          <a:p>
            <a:pPr algn="just">
              <a:lnSpc>
                <a:spcPts val="2440"/>
              </a:lnSpc>
            </a:pPr>
            <a:r>
              <a:rPr lang="en-US" sz="2440">
                <a:solidFill>
                  <a:srgbClr val="443F2B"/>
                </a:solidFill>
                <a:latin typeface="Codec Pro"/>
                <a:ea typeface="Codec Pro"/>
                <a:cs typeface="Codec Pro"/>
                <a:sym typeface="Codec Pro"/>
              </a:rPr>
              <a:t>MCV (Mean corpuscular volume): _ fL </a:t>
            </a:r>
          </a:p>
          <a:p>
            <a:pPr algn="just">
              <a:lnSpc>
                <a:spcPts val="2440"/>
              </a:lnSpc>
            </a:pPr>
            <a:r>
              <a:rPr lang="en-US" sz="2440">
                <a:solidFill>
                  <a:srgbClr val="443F2B"/>
                </a:solidFill>
                <a:latin typeface="Codec Pro"/>
                <a:ea typeface="Codec Pro"/>
                <a:cs typeface="Codec Pro"/>
                <a:sym typeface="Codec Pro"/>
              </a:rPr>
              <a:t>Htc (Hematocrit): _ %</a:t>
            </a:r>
          </a:p>
          <a:p>
            <a:pPr algn="just">
              <a:lnSpc>
                <a:spcPts val="2440"/>
              </a:lnSpc>
            </a:pPr>
            <a:r>
              <a:rPr lang="en-US" sz="2440">
                <a:solidFill>
                  <a:srgbClr val="443F2B"/>
                </a:solidFill>
                <a:latin typeface="Codec Pro"/>
                <a:ea typeface="Codec Pro"/>
                <a:cs typeface="Codec Pro"/>
                <a:sym typeface="Codec Pro"/>
              </a:rPr>
              <a:t>Hgb (Hemoglobin): _ g/dL</a:t>
            </a:r>
          </a:p>
          <a:p>
            <a:pPr algn="just">
              <a:lnSpc>
                <a:spcPts val="2440"/>
              </a:lnSpc>
            </a:pPr>
            <a:r>
              <a:rPr lang="en-US" sz="2440">
                <a:solidFill>
                  <a:srgbClr val="443F2B"/>
                </a:solidFill>
                <a:latin typeface="Codec Pro"/>
                <a:ea typeface="Codec Pro"/>
                <a:cs typeface="Codec Pro"/>
                <a:sym typeface="Codec Pro"/>
              </a:rPr>
              <a:t>Platelet count: _ McL</a:t>
            </a:r>
          </a:p>
          <a:p>
            <a:pPr algn="just">
              <a:lnSpc>
                <a:spcPts val="2440"/>
              </a:lnSpc>
            </a:pPr>
          </a:p>
          <a:p>
            <a:pPr algn="just">
              <a:lnSpc>
                <a:spcPts val="2440"/>
              </a:lnSpc>
            </a:pPr>
            <a:r>
              <a:rPr lang="en-US" sz="2440">
                <a:solidFill>
                  <a:srgbClr val="443F2B"/>
                </a:solidFill>
                <a:latin typeface="Codec Pro"/>
                <a:ea typeface="Codec Pro"/>
                <a:cs typeface="Codec Pro"/>
                <a:sym typeface="Codec Pro"/>
              </a:rPr>
              <a:t>Once the user is done, they should enter the add data prompt given by the program. This directs the program to check if the given data is within the reference range with correlation to their profile for each parameter.</a:t>
            </a:r>
          </a:p>
          <a:p>
            <a:pPr algn="just">
              <a:lnSpc>
                <a:spcPts val="2440"/>
              </a:lnSpc>
            </a:pPr>
          </a:p>
          <a:p>
            <a:pPr algn="just">
              <a:lnSpc>
                <a:spcPts val="2440"/>
              </a:lnSpc>
            </a:pPr>
            <a:r>
              <a:rPr lang="en-US" sz="2440">
                <a:solidFill>
                  <a:srgbClr val="443F2B"/>
                </a:solidFill>
                <a:latin typeface="Codec Pro"/>
                <a:ea typeface="Codec Pro"/>
                <a:cs typeface="Codec Pro"/>
                <a:sym typeface="Codec Pro"/>
              </a:rPr>
              <a:t>The program will then give advice based on the user’s data, whether their results are normal, low, high, or abnormal.</a:t>
            </a:r>
          </a:p>
          <a:p>
            <a:pPr algn="just">
              <a:lnSpc>
                <a:spcPts val="2440"/>
              </a:lnSpc>
            </a:pPr>
          </a:p>
          <a:p>
            <a:pPr algn="just">
              <a:lnSpc>
                <a:spcPts val="2440"/>
              </a:lnSpc>
            </a:pPr>
            <a:r>
              <a:rPr lang="en-US" sz="2440">
                <a:solidFill>
                  <a:srgbClr val="443F2B"/>
                </a:solidFill>
                <a:latin typeface="Codec Pro"/>
                <a:ea typeface="Codec Pro"/>
                <a:cs typeface="Codec Pro"/>
                <a:sym typeface="Codec Pro"/>
              </a:rPr>
              <a:t>After output, a return menu prompt will appear.</a:t>
            </a:r>
          </a:p>
        </p:txBody>
      </p:sp>
    </p:spTree>
  </p:cSld>
  <p:clrMapOvr>
    <a:masterClrMapping/>
  </p:clrMapOvr>
  <p:transition spd="fast">
    <p:cover dir="l"/>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3F3EA"/>
        </a:solidFill>
      </p:bgPr>
    </p:bg>
    <p:spTree>
      <p:nvGrpSpPr>
        <p:cNvPr id="1" name=""/>
        <p:cNvGrpSpPr/>
        <p:nvPr/>
      </p:nvGrpSpPr>
      <p:grpSpPr>
        <a:xfrm>
          <a:off x="0" y="0"/>
          <a:ext cx="0" cy="0"/>
          <a:chOff x="0" y="0"/>
          <a:chExt cx="0" cy="0"/>
        </a:xfrm>
      </p:grpSpPr>
      <p:grpSp>
        <p:nvGrpSpPr>
          <p:cNvPr name="Group 2" id="2"/>
          <p:cNvGrpSpPr/>
          <p:nvPr/>
        </p:nvGrpSpPr>
        <p:grpSpPr>
          <a:xfrm rot="0">
            <a:off x="0" y="1028700"/>
            <a:ext cx="12200657" cy="2222672"/>
            <a:chOff x="0" y="0"/>
            <a:chExt cx="3213342" cy="585395"/>
          </a:xfrm>
        </p:grpSpPr>
        <p:sp>
          <p:nvSpPr>
            <p:cNvPr name="Freeform 3" id="3">
              <a:extLst>
                <a:ext uri="{C183D7F6-B498-43B3-948B-1728B52AA6E4}">
                  <adec:decorative xmlns:adec="http://schemas.microsoft.com/office/drawing/2017/decorative" val="1"/>
                </a:ext>
              </a:extLst>
            </p:cNvPr>
            <p:cNvSpPr/>
            <p:nvPr/>
          </p:nvSpPr>
          <p:spPr>
            <a:xfrm flipH="false" flipV="false" rot="0">
              <a:off x="0" y="0"/>
              <a:ext cx="3213342" cy="585395"/>
            </a:xfrm>
            <a:custGeom>
              <a:avLst/>
              <a:gdLst/>
              <a:ahLst/>
              <a:cxnLst/>
              <a:rect r="r" b="b" t="t" l="l"/>
              <a:pathLst>
                <a:path h="585395" w="3213342">
                  <a:moveTo>
                    <a:pt x="0" y="0"/>
                  </a:moveTo>
                  <a:lnTo>
                    <a:pt x="3213342" y="0"/>
                  </a:lnTo>
                  <a:lnTo>
                    <a:pt x="3213342" y="585395"/>
                  </a:lnTo>
                  <a:lnTo>
                    <a:pt x="0" y="585395"/>
                  </a:lnTo>
                  <a:close/>
                </a:path>
              </a:pathLst>
            </a:custGeom>
            <a:solidFill>
              <a:srgbClr val="726343"/>
            </a:solidFill>
          </p:spPr>
        </p:sp>
        <p:sp>
          <p:nvSpPr>
            <p:cNvPr name="TextBox 4" id="4"/>
            <p:cNvSpPr txBox="true"/>
            <p:nvPr/>
          </p:nvSpPr>
          <p:spPr>
            <a:xfrm>
              <a:off x="0" y="-38100"/>
              <a:ext cx="3213342" cy="623495"/>
            </a:xfrm>
            <a:prstGeom prst="rect">
              <a:avLst/>
            </a:prstGeom>
          </p:spPr>
          <p:txBody>
            <a:bodyPr anchor="ctr" rtlCol="false" tIns="50800" lIns="50800" bIns="50800" rIns="50800"/>
            <a:lstStyle/>
            <a:p>
              <a:pPr algn="ctr">
                <a:lnSpc>
                  <a:spcPts val="2659"/>
                </a:lnSpc>
              </a:pPr>
            </a:p>
          </p:txBody>
        </p:sp>
      </p:grpSp>
      <p:sp>
        <p:nvSpPr>
          <p:cNvPr name="Freeform 5" id="5">
            <a:extLst>
              <a:ext uri="{C183D7F6-B498-43B3-948B-1728B52AA6E4}">
                <adec:decorative xmlns:adec="http://schemas.microsoft.com/office/drawing/2017/decorative" val="1"/>
              </a:ext>
            </a:extLst>
          </p:cNvPr>
          <p:cNvSpPr/>
          <p:nvPr/>
        </p:nvSpPr>
        <p:spPr>
          <a:xfrm flipH="false" flipV="false" rot="0">
            <a:off x="-5247337" y="1151632"/>
            <a:ext cx="8786563" cy="9135368"/>
          </a:xfrm>
          <a:custGeom>
            <a:avLst/>
            <a:gdLst/>
            <a:ahLst/>
            <a:cxnLst/>
            <a:rect r="r" b="b" t="t" l="l"/>
            <a:pathLst>
              <a:path h="9135368" w="8786563">
                <a:moveTo>
                  <a:pt x="0" y="0"/>
                </a:moveTo>
                <a:lnTo>
                  <a:pt x="8786563" y="0"/>
                </a:lnTo>
                <a:lnTo>
                  <a:pt x="8786563" y="9135368"/>
                </a:lnTo>
                <a:lnTo>
                  <a:pt x="0" y="91353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710665" y="1492131"/>
            <a:ext cx="10489992" cy="1166509"/>
          </a:xfrm>
          <a:prstGeom prst="rect">
            <a:avLst/>
          </a:prstGeom>
        </p:spPr>
        <p:txBody>
          <a:bodyPr anchor="t" rtlCol="false" tIns="0" lIns="0" bIns="0" rIns="0">
            <a:spAutoFit/>
          </a:bodyPr>
          <a:lstStyle/>
          <a:p>
            <a:pPr algn="l">
              <a:lnSpc>
                <a:spcPts val="9426"/>
              </a:lnSpc>
              <a:spcBef>
                <a:spcPct val="0"/>
              </a:spcBef>
            </a:pPr>
            <a:r>
              <a:rPr lang="en-US" sz="6732" b="true">
                <a:solidFill>
                  <a:srgbClr val="F3F3EA"/>
                </a:solidFill>
                <a:latin typeface="Rasputin Bold"/>
                <a:ea typeface="Rasputin Bold"/>
                <a:cs typeface="Rasputin Bold"/>
                <a:sym typeface="Rasputin Bold"/>
              </a:rPr>
              <a:t>Technical Approach</a:t>
            </a:r>
          </a:p>
        </p:txBody>
      </p:sp>
      <p:grpSp>
        <p:nvGrpSpPr>
          <p:cNvPr name="Group 7" id="7"/>
          <p:cNvGrpSpPr/>
          <p:nvPr/>
        </p:nvGrpSpPr>
        <p:grpSpPr>
          <a:xfrm rot="0">
            <a:off x="15890057" y="8027346"/>
            <a:ext cx="2397943" cy="1313917"/>
            <a:chOff x="0" y="0"/>
            <a:chExt cx="631557" cy="346052"/>
          </a:xfrm>
        </p:grpSpPr>
        <p:sp>
          <p:nvSpPr>
            <p:cNvPr name="Freeform 8" id="8">
              <a:extLst>
                <a:ext uri="{C183D7F6-B498-43B3-948B-1728B52AA6E4}">
                  <adec:decorative xmlns:adec="http://schemas.microsoft.com/office/drawing/2017/decorative" val="1"/>
                </a:ext>
              </a:extLst>
            </p:cNvPr>
            <p:cNvSpPr/>
            <p:nvPr/>
          </p:nvSpPr>
          <p:spPr>
            <a:xfrm flipH="false" flipV="false" rot="0">
              <a:off x="0" y="0"/>
              <a:ext cx="631557" cy="346052"/>
            </a:xfrm>
            <a:custGeom>
              <a:avLst/>
              <a:gdLst/>
              <a:ahLst/>
              <a:cxnLst/>
              <a:rect r="r" b="b" t="t" l="l"/>
              <a:pathLst>
                <a:path h="346052" w="631557">
                  <a:moveTo>
                    <a:pt x="0" y="0"/>
                  </a:moveTo>
                  <a:lnTo>
                    <a:pt x="631557" y="0"/>
                  </a:lnTo>
                  <a:lnTo>
                    <a:pt x="631557" y="346052"/>
                  </a:lnTo>
                  <a:lnTo>
                    <a:pt x="0" y="346052"/>
                  </a:lnTo>
                  <a:close/>
                </a:path>
              </a:pathLst>
            </a:custGeom>
            <a:solidFill>
              <a:srgbClr val="CBC4AD"/>
            </a:solidFill>
          </p:spPr>
        </p:sp>
        <p:sp>
          <p:nvSpPr>
            <p:cNvPr name="TextBox 9" id="9"/>
            <p:cNvSpPr txBox="true"/>
            <p:nvPr/>
          </p:nvSpPr>
          <p:spPr>
            <a:xfrm>
              <a:off x="0" y="-38100"/>
              <a:ext cx="631557" cy="384152"/>
            </a:xfrm>
            <a:prstGeom prst="rect">
              <a:avLst/>
            </a:prstGeom>
          </p:spPr>
          <p:txBody>
            <a:bodyPr anchor="ctr" rtlCol="false" tIns="50800" lIns="50800" bIns="50800" rIns="50800"/>
            <a:lstStyle/>
            <a:p>
              <a:pPr algn="ctr">
                <a:lnSpc>
                  <a:spcPts val="2659"/>
                </a:lnSpc>
              </a:pPr>
            </a:p>
          </p:txBody>
        </p:sp>
      </p:grpSp>
      <p:sp>
        <p:nvSpPr>
          <p:cNvPr name="Freeform 10" id="10">
            <a:extLst>
              <a:ext uri="{C183D7F6-B498-43B3-948B-1728B52AA6E4}">
                <adec:decorative xmlns:adec="http://schemas.microsoft.com/office/drawing/2017/decorative" val="1"/>
              </a:ext>
            </a:extLst>
          </p:cNvPr>
          <p:cNvSpPr/>
          <p:nvPr/>
        </p:nvSpPr>
        <p:spPr>
          <a:xfrm flipH="false" flipV="false" rot="0">
            <a:off x="4132778" y="9480724"/>
            <a:ext cx="3935101" cy="608152"/>
          </a:xfrm>
          <a:custGeom>
            <a:avLst/>
            <a:gdLst/>
            <a:ahLst/>
            <a:cxnLst/>
            <a:rect r="r" b="b" t="t" l="l"/>
            <a:pathLst>
              <a:path h="608152" w="3935101">
                <a:moveTo>
                  <a:pt x="0" y="0"/>
                </a:moveTo>
                <a:lnTo>
                  <a:pt x="3935101" y="0"/>
                </a:lnTo>
                <a:lnTo>
                  <a:pt x="3935101" y="608152"/>
                </a:lnTo>
                <a:lnTo>
                  <a:pt x="0" y="6081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15781988" y="7960405"/>
            <a:ext cx="2506012" cy="1295400"/>
          </a:xfrm>
          <a:prstGeom prst="rect">
            <a:avLst/>
          </a:prstGeom>
        </p:spPr>
        <p:txBody>
          <a:bodyPr anchor="t" rtlCol="false" tIns="0" lIns="0" bIns="0" rIns="0">
            <a:spAutoFit/>
          </a:bodyPr>
          <a:lstStyle/>
          <a:p>
            <a:pPr algn="ctr">
              <a:lnSpc>
                <a:spcPts val="10500"/>
              </a:lnSpc>
              <a:spcBef>
                <a:spcPct val="0"/>
              </a:spcBef>
            </a:pPr>
            <a:r>
              <a:rPr lang="en-US" b="true" sz="7500">
                <a:solidFill>
                  <a:srgbClr val="F3F3EA"/>
                </a:solidFill>
                <a:latin typeface="Rasputin Bold"/>
                <a:ea typeface="Rasputin Bold"/>
                <a:cs typeface="Rasputin Bold"/>
                <a:sym typeface="Rasputin Bold"/>
              </a:rPr>
              <a:t>04</a:t>
            </a:r>
          </a:p>
        </p:txBody>
      </p:sp>
      <p:grpSp>
        <p:nvGrpSpPr>
          <p:cNvPr name="Group 12" id="12"/>
          <p:cNvGrpSpPr/>
          <p:nvPr/>
        </p:nvGrpSpPr>
        <p:grpSpPr>
          <a:xfrm rot="0">
            <a:off x="16816065" y="3994429"/>
            <a:ext cx="2943871" cy="294387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2C9A9"/>
            </a:solidFill>
          </p:spPr>
        </p:sp>
        <p:sp>
          <p:nvSpPr>
            <p:cNvPr name="TextBox 14" id="14"/>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3072797" y="-1471935"/>
            <a:ext cx="2943871" cy="294387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2C9A9"/>
            </a:solidFill>
          </p:spPr>
        </p:sp>
        <p:sp>
          <p:nvSpPr>
            <p:cNvPr name="TextBox 17" id="17"/>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1028700" y="3413297"/>
            <a:ext cx="15586439" cy="7274812"/>
          </a:xfrm>
          <a:prstGeom prst="rect">
            <a:avLst/>
          </a:prstGeom>
        </p:spPr>
        <p:txBody>
          <a:bodyPr anchor="t" rtlCol="false" tIns="0" lIns="0" bIns="0" rIns="0">
            <a:spAutoFit/>
          </a:bodyPr>
          <a:lstStyle/>
          <a:p>
            <a:pPr algn="just">
              <a:lnSpc>
                <a:spcPts val="2838"/>
              </a:lnSpc>
            </a:pPr>
            <a:r>
              <a:rPr lang="en-US" sz="2838">
                <a:solidFill>
                  <a:srgbClr val="443F2B"/>
                </a:solidFill>
                <a:latin typeface="Codec Pro"/>
                <a:ea typeface="Codec Pro"/>
                <a:cs typeface="Codec Pro"/>
                <a:sym typeface="Codec Pro"/>
              </a:rPr>
              <a:t>Urinalysis analyzer:</a:t>
            </a:r>
          </a:p>
          <a:p>
            <a:pPr algn="just">
              <a:lnSpc>
                <a:spcPts val="2838"/>
              </a:lnSpc>
            </a:pPr>
            <a:r>
              <a:rPr lang="en-US" sz="2838">
                <a:solidFill>
                  <a:srgbClr val="443F2B"/>
                </a:solidFill>
                <a:latin typeface="Codec Pro"/>
                <a:ea typeface="Codec Pro"/>
                <a:cs typeface="Codec Pro"/>
                <a:sym typeface="Codec Pro"/>
              </a:rPr>
              <a:t>Upon being chosen by the user, the user is required to take the “Naked eye Test” where the user must input the urine’s observable traits; color, texture. Then, the user is prompted to manually input raw data from Urinary test results. Mainly, their:</a:t>
            </a:r>
          </a:p>
          <a:p>
            <a:pPr algn="just">
              <a:lnSpc>
                <a:spcPts val="2838"/>
              </a:lnSpc>
            </a:pPr>
          </a:p>
          <a:p>
            <a:pPr algn="just">
              <a:lnSpc>
                <a:spcPts val="2838"/>
              </a:lnSpc>
            </a:pPr>
            <a:r>
              <a:rPr lang="en-US" sz="2838">
                <a:solidFill>
                  <a:srgbClr val="443F2B"/>
                </a:solidFill>
                <a:latin typeface="Codec Pro"/>
                <a:ea typeface="Codec Pro"/>
                <a:cs typeface="Codec Pro"/>
                <a:sym typeface="Codec Pro"/>
              </a:rPr>
              <a:t>Urine Observation: *Observables*</a:t>
            </a:r>
          </a:p>
          <a:p>
            <a:pPr algn="just">
              <a:lnSpc>
                <a:spcPts val="2838"/>
              </a:lnSpc>
            </a:pPr>
            <a:r>
              <a:rPr lang="en-US" sz="2838">
                <a:solidFill>
                  <a:srgbClr val="443F2B"/>
                </a:solidFill>
                <a:latin typeface="Codec Pro"/>
                <a:ea typeface="Codec Pro"/>
                <a:cs typeface="Codec Pro"/>
                <a:sym typeface="Codec Pro"/>
              </a:rPr>
              <a:t>Protein: _mg/dL</a:t>
            </a:r>
          </a:p>
          <a:p>
            <a:pPr algn="just">
              <a:lnSpc>
                <a:spcPts val="2838"/>
              </a:lnSpc>
            </a:pPr>
            <a:r>
              <a:rPr lang="en-US" sz="2838">
                <a:solidFill>
                  <a:srgbClr val="443F2B"/>
                </a:solidFill>
                <a:latin typeface="Codec Pro"/>
                <a:ea typeface="Codec Pro"/>
                <a:cs typeface="Codec Pro"/>
                <a:sym typeface="Codec Pro"/>
              </a:rPr>
              <a:t>Glucose: _mg/dL</a:t>
            </a:r>
          </a:p>
          <a:p>
            <a:pPr algn="just">
              <a:lnSpc>
                <a:spcPts val="2838"/>
              </a:lnSpc>
            </a:pPr>
            <a:r>
              <a:rPr lang="en-US" sz="2838">
                <a:solidFill>
                  <a:srgbClr val="443F2B"/>
                </a:solidFill>
                <a:latin typeface="Codec Pro"/>
                <a:ea typeface="Codec Pro"/>
                <a:cs typeface="Codec Pro"/>
                <a:sym typeface="Codec Pro"/>
              </a:rPr>
              <a:t>pH level: *Numerical Value*</a:t>
            </a:r>
          </a:p>
          <a:p>
            <a:pPr algn="just">
              <a:lnSpc>
                <a:spcPts val="2838"/>
              </a:lnSpc>
            </a:pPr>
            <a:r>
              <a:rPr lang="en-US" sz="2838">
                <a:solidFill>
                  <a:srgbClr val="443F2B"/>
                </a:solidFill>
                <a:latin typeface="Codec Pro"/>
                <a:ea typeface="Codec Pro"/>
                <a:cs typeface="Codec Pro"/>
                <a:sym typeface="Codec Pro"/>
              </a:rPr>
              <a:t>Nitrites: *Positive or Negative*</a:t>
            </a:r>
          </a:p>
          <a:p>
            <a:pPr algn="just">
              <a:lnSpc>
                <a:spcPts val="2838"/>
              </a:lnSpc>
            </a:pPr>
          </a:p>
          <a:p>
            <a:pPr algn="just">
              <a:lnSpc>
                <a:spcPts val="2838"/>
              </a:lnSpc>
            </a:pPr>
            <a:r>
              <a:rPr lang="en-US" sz="2838">
                <a:solidFill>
                  <a:srgbClr val="443F2B"/>
                </a:solidFill>
                <a:latin typeface="Codec Pro"/>
                <a:ea typeface="Codec Pro"/>
                <a:cs typeface="Codec Pro"/>
                <a:sym typeface="Codec Pro"/>
              </a:rPr>
              <a:t>Once the user is done, they may enter the add data prompt given by the program. This directs the program to check if the given data is within the reference range with correlation to their profile for each parameter.</a:t>
            </a:r>
          </a:p>
          <a:p>
            <a:pPr algn="just">
              <a:lnSpc>
                <a:spcPts val="2838"/>
              </a:lnSpc>
            </a:pPr>
          </a:p>
          <a:p>
            <a:pPr algn="just">
              <a:lnSpc>
                <a:spcPts val="2838"/>
              </a:lnSpc>
            </a:pPr>
            <a:r>
              <a:rPr lang="en-US" sz="2838">
                <a:solidFill>
                  <a:srgbClr val="443F2B"/>
                </a:solidFill>
                <a:latin typeface="Codec Pro"/>
                <a:ea typeface="Codec Pro"/>
                <a:cs typeface="Codec Pro"/>
                <a:sym typeface="Codec Pro"/>
              </a:rPr>
              <a:t>The program will then give advice based on the user’s data, whether their results are normal, low, high, or abnormal.</a:t>
            </a:r>
          </a:p>
          <a:p>
            <a:pPr algn="just">
              <a:lnSpc>
                <a:spcPts val="2838"/>
              </a:lnSpc>
            </a:pPr>
          </a:p>
          <a:p>
            <a:pPr algn="just">
              <a:lnSpc>
                <a:spcPts val="2838"/>
              </a:lnSpc>
            </a:pPr>
            <a:r>
              <a:rPr lang="en-US" sz="2838">
                <a:solidFill>
                  <a:srgbClr val="443F2B"/>
                </a:solidFill>
                <a:latin typeface="Codec Pro"/>
                <a:ea typeface="Codec Pro"/>
                <a:cs typeface="Codec Pro"/>
                <a:sym typeface="Codec Pro"/>
              </a:rPr>
              <a:t>After output, a return menu prompt will appear.</a:t>
            </a:r>
          </a:p>
          <a:p>
            <a:pPr algn="just">
              <a:lnSpc>
                <a:spcPts val="2838"/>
              </a:lnSpc>
            </a:pPr>
          </a:p>
        </p:txBody>
      </p:sp>
    </p:spTree>
  </p:cSld>
  <p:clrMapOvr>
    <a:masterClrMapping/>
  </p:clrMapOvr>
  <p:transition spd="fast">
    <p:cover dir="l"/>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3F3EA"/>
        </a:solidFill>
      </p:bgPr>
    </p:bg>
    <p:spTree>
      <p:nvGrpSpPr>
        <p:cNvPr id="1" name=""/>
        <p:cNvGrpSpPr/>
        <p:nvPr/>
      </p:nvGrpSpPr>
      <p:grpSpPr>
        <a:xfrm>
          <a:off x="0" y="0"/>
          <a:ext cx="0" cy="0"/>
          <a:chOff x="0" y="0"/>
          <a:chExt cx="0" cy="0"/>
        </a:xfrm>
      </p:grpSpPr>
      <p:grpSp>
        <p:nvGrpSpPr>
          <p:cNvPr name="Group 2" id="2"/>
          <p:cNvGrpSpPr/>
          <p:nvPr/>
        </p:nvGrpSpPr>
        <p:grpSpPr>
          <a:xfrm rot="0">
            <a:off x="0" y="1028700"/>
            <a:ext cx="12200657" cy="2222672"/>
            <a:chOff x="0" y="0"/>
            <a:chExt cx="3213342" cy="585395"/>
          </a:xfrm>
        </p:grpSpPr>
        <p:sp>
          <p:nvSpPr>
            <p:cNvPr name="Freeform 3" id="3">
              <a:extLst>
                <a:ext uri="{C183D7F6-B498-43B3-948B-1728B52AA6E4}">
                  <adec:decorative xmlns:adec="http://schemas.microsoft.com/office/drawing/2017/decorative" val="1"/>
                </a:ext>
              </a:extLst>
            </p:cNvPr>
            <p:cNvSpPr/>
            <p:nvPr/>
          </p:nvSpPr>
          <p:spPr>
            <a:xfrm flipH="false" flipV="false" rot="0">
              <a:off x="0" y="0"/>
              <a:ext cx="3213342" cy="585395"/>
            </a:xfrm>
            <a:custGeom>
              <a:avLst/>
              <a:gdLst/>
              <a:ahLst/>
              <a:cxnLst/>
              <a:rect r="r" b="b" t="t" l="l"/>
              <a:pathLst>
                <a:path h="585395" w="3213342">
                  <a:moveTo>
                    <a:pt x="0" y="0"/>
                  </a:moveTo>
                  <a:lnTo>
                    <a:pt x="3213342" y="0"/>
                  </a:lnTo>
                  <a:lnTo>
                    <a:pt x="3213342" y="585395"/>
                  </a:lnTo>
                  <a:lnTo>
                    <a:pt x="0" y="585395"/>
                  </a:lnTo>
                  <a:close/>
                </a:path>
              </a:pathLst>
            </a:custGeom>
            <a:solidFill>
              <a:srgbClr val="726343"/>
            </a:solidFill>
          </p:spPr>
        </p:sp>
        <p:sp>
          <p:nvSpPr>
            <p:cNvPr name="TextBox 4" id="4"/>
            <p:cNvSpPr txBox="true"/>
            <p:nvPr/>
          </p:nvSpPr>
          <p:spPr>
            <a:xfrm>
              <a:off x="0" y="-38100"/>
              <a:ext cx="3213342" cy="623495"/>
            </a:xfrm>
            <a:prstGeom prst="rect">
              <a:avLst/>
            </a:prstGeom>
          </p:spPr>
          <p:txBody>
            <a:bodyPr anchor="ctr" rtlCol="false" tIns="50800" lIns="50800" bIns="50800" rIns="50800"/>
            <a:lstStyle/>
            <a:p>
              <a:pPr algn="ctr">
                <a:lnSpc>
                  <a:spcPts val="2659"/>
                </a:lnSpc>
              </a:pPr>
            </a:p>
          </p:txBody>
        </p:sp>
      </p:grpSp>
      <p:sp>
        <p:nvSpPr>
          <p:cNvPr name="Freeform 5" id="5">
            <a:extLst>
              <a:ext uri="{C183D7F6-B498-43B3-948B-1728B52AA6E4}">
                <adec:decorative xmlns:adec="http://schemas.microsoft.com/office/drawing/2017/decorative" val="1"/>
              </a:ext>
            </a:extLst>
          </p:cNvPr>
          <p:cNvSpPr/>
          <p:nvPr/>
        </p:nvSpPr>
        <p:spPr>
          <a:xfrm flipH="false" flipV="false" rot="0">
            <a:off x="-5247337" y="1151632"/>
            <a:ext cx="8786563" cy="9135368"/>
          </a:xfrm>
          <a:custGeom>
            <a:avLst/>
            <a:gdLst/>
            <a:ahLst/>
            <a:cxnLst/>
            <a:rect r="r" b="b" t="t" l="l"/>
            <a:pathLst>
              <a:path h="9135368" w="8786563">
                <a:moveTo>
                  <a:pt x="0" y="0"/>
                </a:moveTo>
                <a:lnTo>
                  <a:pt x="8786563" y="0"/>
                </a:lnTo>
                <a:lnTo>
                  <a:pt x="8786563" y="9135368"/>
                </a:lnTo>
                <a:lnTo>
                  <a:pt x="0" y="91353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710665" y="1492131"/>
            <a:ext cx="10489992" cy="1166509"/>
          </a:xfrm>
          <a:prstGeom prst="rect">
            <a:avLst/>
          </a:prstGeom>
        </p:spPr>
        <p:txBody>
          <a:bodyPr anchor="t" rtlCol="false" tIns="0" lIns="0" bIns="0" rIns="0">
            <a:spAutoFit/>
          </a:bodyPr>
          <a:lstStyle/>
          <a:p>
            <a:pPr algn="l">
              <a:lnSpc>
                <a:spcPts val="9426"/>
              </a:lnSpc>
              <a:spcBef>
                <a:spcPct val="0"/>
              </a:spcBef>
            </a:pPr>
            <a:r>
              <a:rPr lang="en-US" sz="6732" b="true">
                <a:solidFill>
                  <a:srgbClr val="F3F3EA"/>
                </a:solidFill>
                <a:latin typeface="Rasputin Bold"/>
                <a:ea typeface="Rasputin Bold"/>
                <a:cs typeface="Rasputin Bold"/>
                <a:sym typeface="Rasputin Bold"/>
              </a:rPr>
              <a:t>Technical Approach</a:t>
            </a:r>
          </a:p>
        </p:txBody>
      </p:sp>
      <p:grpSp>
        <p:nvGrpSpPr>
          <p:cNvPr name="Group 7" id="7"/>
          <p:cNvGrpSpPr/>
          <p:nvPr/>
        </p:nvGrpSpPr>
        <p:grpSpPr>
          <a:xfrm rot="0">
            <a:off x="15890057" y="8027346"/>
            <a:ext cx="2397943" cy="1313917"/>
            <a:chOff x="0" y="0"/>
            <a:chExt cx="631557" cy="346052"/>
          </a:xfrm>
        </p:grpSpPr>
        <p:sp>
          <p:nvSpPr>
            <p:cNvPr name="Freeform 8" id="8">
              <a:extLst>
                <a:ext uri="{C183D7F6-B498-43B3-948B-1728B52AA6E4}">
                  <adec:decorative xmlns:adec="http://schemas.microsoft.com/office/drawing/2017/decorative" val="1"/>
                </a:ext>
              </a:extLst>
            </p:cNvPr>
            <p:cNvSpPr/>
            <p:nvPr/>
          </p:nvSpPr>
          <p:spPr>
            <a:xfrm flipH="false" flipV="false" rot="0">
              <a:off x="0" y="0"/>
              <a:ext cx="631557" cy="346052"/>
            </a:xfrm>
            <a:custGeom>
              <a:avLst/>
              <a:gdLst/>
              <a:ahLst/>
              <a:cxnLst/>
              <a:rect r="r" b="b" t="t" l="l"/>
              <a:pathLst>
                <a:path h="346052" w="631557">
                  <a:moveTo>
                    <a:pt x="0" y="0"/>
                  </a:moveTo>
                  <a:lnTo>
                    <a:pt x="631557" y="0"/>
                  </a:lnTo>
                  <a:lnTo>
                    <a:pt x="631557" y="346052"/>
                  </a:lnTo>
                  <a:lnTo>
                    <a:pt x="0" y="346052"/>
                  </a:lnTo>
                  <a:close/>
                </a:path>
              </a:pathLst>
            </a:custGeom>
            <a:solidFill>
              <a:srgbClr val="CBC4AD"/>
            </a:solidFill>
          </p:spPr>
        </p:sp>
        <p:sp>
          <p:nvSpPr>
            <p:cNvPr name="TextBox 9" id="9"/>
            <p:cNvSpPr txBox="true"/>
            <p:nvPr/>
          </p:nvSpPr>
          <p:spPr>
            <a:xfrm>
              <a:off x="0" y="-38100"/>
              <a:ext cx="631557" cy="384152"/>
            </a:xfrm>
            <a:prstGeom prst="rect">
              <a:avLst/>
            </a:prstGeom>
          </p:spPr>
          <p:txBody>
            <a:bodyPr anchor="ctr" rtlCol="false" tIns="50800" lIns="50800" bIns="50800" rIns="50800"/>
            <a:lstStyle/>
            <a:p>
              <a:pPr algn="ctr">
                <a:lnSpc>
                  <a:spcPts val="2659"/>
                </a:lnSpc>
              </a:pPr>
            </a:p>
          </p:txBody>
        </p:sp>
      </p:grpSp>
      <p:sp>
        <p:nvSpPr>
          <p:cNvPr name="Freeform 10" id="10">
            <a:extLst>
              <a:ext uri="{C183D7F6-B498-43B3-948B-1728B52AA6E4}">
                <adec:decorative xmlns:adec="http://schemas.microsoft.com/office/drawing/2017/decorative" val="1"/>
              </a:ext>
            </a:extLst>
          </p:cNvPr>
          <p:cNvSpPr/>
          <p:nvPr/>
        </p:nvSpPr>
        <p:spPr>
          <a:xfrm flipH="false" flipV="false" rot="0">
            <a:off x="4132778" y="9480724"/>
            <a:ext cx="3935101" cy="608152"/>
          </a:xfrm>
          <a:custGeom>
            <a:avLst/>
            <a:gdLst/>
            <a:ahLst/>
            <a:cxnLst/>
            <a:rect r="r" b="b" t="t" l="l"/>
            <a:pathLst>
              <a:path h="608152" w="3935101">
                <a:moveTo>
                  <a:pt x="0" y="0"/>
                </a:moveTo>
                <a:lnTo>
                  <a:pt x="3935101" y="0"/>
                </a:lnTo>
                <a:lnTo>
                  <a:pt x="3935101" y="608152"/>
                </a:lnTo>
                <a:lnTo>
                  <a:pt x="0" y="6081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15781988" y="7960405"/>
            <a:ext cx="2506012" cy="1295400"/>
          </a:xfrm>
          <a:prstGeom prst="rect">
            <a:avLst/>
          </a:prstGeom>
        </p:spPr>
        <p:txBody>
          <a:bodyPr anchor="t" rtlCol="false" tIns="0" lIns="0" bIns="0" rIns="0">
            <a:spAutoFit/>
          </a:bodyPr>
          <a:lstStyle/>
          <a:p>
            <a:pPr algn="ctr">
              <a:lnSpc>
                <a:spcPts val="10500"/>
              </a:lnSpc>
              <a:spcBef>
                <a:spcPct val="0"/>
              </a:spcBef>
            </a:pPr>
            <a:r>
              <a:rPr lang="en-US" b="true" sz="7500">
                <a:solidFill>
                  <a:srgbClr val="F3F3EA"/>
                </a:solidFill>
                <a:latin typeface="Rasputin Bold"/>
                <a:ea typeface="Rasputin Bold"/>
                <a:cs typeface="Rasputin Bold"/>
                <a:sym typeface="Rasputin Bold"/>
              </a:rPr>
              <a:t>04</a:t>
            </a:r>
          </a:p>
        </p:txBody>
      </p:sp>
      <p:grpSp>
        <p:nvGrpSpPr>
          <p:cNvPr name="Group 12" id="12"/>
          <p:cNvGrpSpPr/>
          <p:nvPr/>
        </p:nvGrpSpPr>
        <p:grpSpPr>
          <a:xfrm rot="0">
            <a:off x="16816065" y="3994429"/>
            <a:ext cx="2943871" cy="294387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2C9A9"/>
            </a:solidFill>
          </p:spPr>
        </p:sp>
        <p:sp>
          <p:nvSpPr>
            <p:cNvPr name="TextBox 14" id="14"/>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3072797" y="-1471935"/>
            <a:ext cx="2943871" cy="294387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2C9A9"/>
            </a:solidFill>
          </p:spPr>
        </p:sp>
        <p:sp>
          <p:nvSpPr>
            <p:cNvPr name="TextBox 17" id="17"/>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1198404" y="3422822"/>
            <a:ext cx="16060896" cy="6471363"/>
          </a:xfrm>
          <a:prstGeom prst="rect">
            <a:avLst/>
          </a:prstGeom>
        </p:spPr>
        <p:txBody>
          <a:bodyPr anchor="t" rtlCol="false" tIns="0" lIns="0" bIns="0" rIns="0">
            <a:spAutoFit/>
          </a:bodyPr>
          <a:lstStyle/>
          <a:p>
            <a:pPr algn="just">
              <a:lnSpc>
                <a:spcPts val="3153"/>
              </a:lnSpc>
            </a:pPr>
            <a:r>
              <a:rPr lang="en-US" sz="3153">
                <a:solidFill>
                  <a:srgbClr val="443F2B"/>
                </a:solidFill>
                <a:latin typeface="Codec Pro"/>
                <a:ea typeface="Codec Pro"/>
                <a:cs typeface="Codec Pro"/>
                <a:sym typeface="Codec Pro"/>
              </a:rPr>
              <a:t>Lipid Panel analyzer:</a:t>
            </a:r>
          </a:p>
          <a:p>
            <a:pPr algn="just">
              <a:lnSpc>
                <a:spcPts val="3153"/>
              </a:lnSpc>
            </a:pPr>
            <a:r>
              <a:rPr lang="en-US" sz="3153">
                <a:solidFill>
                  <a:srgbClr val="443F2B"/>
                </a:solidFill>
                <a:latin typeface="Codec Pro"/>
                <a:ea typeface="Codec Pro"/>
                <a:cs typeface="Codec Pro"/>
                <a:sym typeface="Codec Pro"/>
              </a:rPr>
              <a:t>Upon being chosen by the user, the user is required to manually input raw data from their Lipid Panel test results. Mainly, their:</a:t>
            </a:r>
          </a:p>
          <a:p>
            <a:pPr algn="just">
              <a:lnSpc>
                <a:spcPts val="3153"/>
              </a:lnSpc>
            </a:pPr>
          </a:p>
          <a:p>
            <a:pPr algn="just">
              <a:lnSpc>
                <a:spcPts val="3153"/>
              </a:lnSpc>
            </a:pPr>
            <a:r>
              <a:rPr lang="en-US" sz="3153">
                <a:solidFill>
                  <a:srgbClr val="443F2B"/>
                </a:solidFill>
                <a:latin typeface="Codec Pro"/>
                <a:ea typeface="Codec Pro"/>
                <a:cs typeface="Codec Pro"/>
                <a:sym typeface="Codec Pro"/>
              </a:rPr>
              <a:t>Total Cholesterol (Lipid Panel): _mmol/L</a:t>
            </a:r>
          </a:p>
          <a:p>
            <a:pPr algn="just">
              <a:lnSpc>
                <a:spcPts val="3153"/>
              </a:lnSpc>
            </a:pPr>
            <a:r>
              <a:rPr lang="en-US" sz="3153">
                <a:solidFill>
                  <a:srgbClr val="443F2B"/>
                </a:solidFill>
                <a:latin typeface="Codec Pro"/>
                <a:ea typeface="Codec Pro"/>
                <a:cs typeface="Codec Pro"/>
                <a:sym typeface="Codec Pro"/>
              </a:rPr>
              <a:t>Low Density Lipoprotein: _mg/dL</a:t>
            </a:r>
          </a:p>
          <a:p>
            <a:pPr algn="just">
              <a:lnSpc>
                <a:spcPts val="3153"/>
              </a:lnSpc>
            </a:pPr>
            <a:r>
              <a:rPr lang="en-US" sz="3153">
                <a:solidFill>
                  <a:srgbClr val="443F2B"/>
                </a:solidFill>
                <a:latin typeface="Codec Pro"/>
                <a:ea typeface="Codec Pro"/>
                <a:cs typeface="Codec Pro"/>
                <a:sym typeface="Codec Pro"/>
              </a:rPr>
              <a:t>High Density Lipoprotein: _mg/dL</a:t>
            </a:r>
          </a:p>
          <a:p>
            <a:pPr algn="just">
              <a:lnSpc>
                <a:spcPts val="3153"/>
              </a:lnSpc>
            </a:pPr>
          </a:p>
          <a:p>
            <a:pPr algn="just">
              <a:lnSpc>
                <a:spcPts val="3153"/>
              </a:lnSpc>
            </a:pPr>
            <a:r>
              <a:rPr lang="en-US" sz="3153">
                <a:solidFill>
                  <a:srgbClr val="443F2B"/>
                </a:solidFill>
                <a:latin typeface="Codec Pro"/>
                <a:ea typeface="Codec Pro"/>
                <a:cs typeface="Codec Pro"/>
                <a:sym typeface="Codec Pro"/>
              </a:rPr>
              <a:t>Once the user is done, they may enter the add data prompt given by the program. This directs the program to check if the given data is within the reference range with correlation to their profile for each parameter.</a:t>
            </a:r>
          </a:p>
          <a:p>
            <a:pPr algn="just">
              <a:lnSpc>
                <a:spcPts val="3153"/>
              </a:lnSpc>
            </a:pPr>
          </a:p>
          <a:p>
            <a:pPr algn="just">
              <a:lnSpc>
                <a:spcPts val="3153"/>
              </a:lnSpc>
            </a:pPr>
            <a:r>
              <a:rPr lang="en-US" sz="3153">
                <a:solidFill>
                  <a:srgbClr val="443F2B"/>
                </a:solidFill>
                <a:latin typeface="Codec Pro"/>
                <a:ea typeface="Codec Pro"/>
                <a:cs typeface="Codec Pro"/>
                <a:sym typeface="Codec Pro"/>
              </a:rPr>
              <a:t>The program will then give advice based on the user’s data, whether their results are normal, low, high, or abnormal.</a:t>
            </a:r>
          </a:p>
          <a:p>
            <a:pPr algn="just">
              <a:lnSpc>
                <a:spcPts val="3153"/>
              </a:lnSpc>
            </a:pPr>
          </a:p>
          <a:p>
            <a:pPr algn="just">
              <a:lnSpc>
                <a:spcPts val="3153"/>
              </a:lnSpc>
            </a:pPr>
            <a:r>
              <a:rPr lang="en-US" sz="3153">
                <a:solidFill>
                  <a:srgbClr val="443F2B"/>
                </a:solidFill>
                <a:latin typeface="Codec Pro"/>
                <a:ea typeface="Codec Pro"/>
                <a:cs typeface="Codec Pro"/>
                <a:sym typeface="Codec Pro"/>
              </a:rPr>
              <a:t>After output, a return menu prompt will appear.</a:t>
            </a:r>
          </a:p>
        </p:txBody>
      </p:sp>
    </p:spTree>
  </p:cSld>
  <p:clrMapOvr>
    <a:masterClrMapping/>
  </p:clrMapOvr>
  <p:transition spd="fast">
    <p:cover dir="l"/>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3F3EA"/>
        </a:solidFill>
      </p:bgPr>
    </p:bg>
    <p:spTree>
      <p:nvGrpSpPr>
        <p:cNvPr id="1" name=""/>
        <p:cNvGrpSpPr/>
        <p:nvPr/>
      </p:nvGrpSpPr>
      <p:grpSpPr>
        <a:xfrm>
          <a:off x="0" y="0"/>
          <a:ext cx="0" cy="0"/>
          <a:chOff x="0" y="0"/>
          <a:chExt cx="0" cy="0"/>
        </a:xfrm>
      </p:grpSpPr>
      <p:grpSp>
        <p:nvGrpSpPr>
          <p:cNvPr name="Group 2" id="2"/>
          <p:cNvGrpSpPr/>
          <p:nvPr/>
        </p:nvGrpSpPr>
        <p:grpSpPr>
          <a:xfrm rot="0">
            <a:off x="0" y="1028700"/>
            <a:ext cx="12200657" cy="2222672"/>
            <a:chOff x="0" y="0"/>
            <a:chExt cx="3213342" cy="585395"/>
          </a:xfrm>
        </p:grpSpPr>
        <p:sp>
          <p:nvSpPr>
            <p:cNvPr name="Freeform 3" id="3">
              <a:extLst>
                <a:ext uri="{C183D7F6-B498-43B3-948B-1728B52AA6E4}">
                  <adec:decorative xmlns:adec="http://schemas.microsoft.com/office/drawing/2017/decorative" val="1"/>
                </a:ext>
              </a:extLst>
            </p:cNvPr>
            <p:cNvSpPr/>
            <p:nvPr/>
          </p:nvSpPr>
          <p:spPr>
            <a:xfrm flipH="false" flipV="false" rot="0">
              <a:off x="0" y="0"/>
              <a:ext cx="3213342" cy="585395"/>
            </a:xfrm>
            <a:custGeom>
              <a:avLst/>
              <a:gdLst/>
              <a:ahLst/>
              <a:cxnLst/>
              <a:rect r="r" b="b" t="t" l="l"/>
              <a:pathLst>
                <a:path h="585395" w="3213342">
                  <a:moveTo>
                    <a:pt x="0" y="0"/>
                  </a:moveTo>
                  <a:lnTo>
                    <a:pt x="3213342" y="0"/>
                  </a:lnTo>
                  <a:lnTo>
                    <a:pt x="3213342" y="585395"/>
                  </a:lnTo>
                  <a:lnTo>
                    <a:pt x="0" y="585395"/>
                  </a:lnTo>
                  <a:close/>
                </a:path>
              </a:pathLst>
            </a:custGeom>
            <a:solidFill>
              <a:srgbClr val="726343"/>
            </a:solidFill>
          </p:spPr>
        </p:sp>
        <p:sp>
          <p:nvSpPr>
            <p:cNvPr name="TextBox 4" id="4"/>
            <p:cNvSpPr txBox="true"/>
            <p:nvPr/>
          </p:nvSpPr>
          <p:spPr>
            <a:xfrm>
              <a:off x="0" y="-38100"/>
              <a:ext cx="3213342" cy="623495"/>
            </a:xfrm>
            <a:prstGeom prst="rect">
              <a:avLst/>
            </a:prstGeom>
          </p:spPr>
          <p:txBody>
            <a:bodyPr anchor="ctr" rtlCol="false" tIns="50800" lIns="50800" bIns="50800" rIns="50800"/>
            <a:lstStyle/>
            <a:p>
              <a:pPr algn="ctr">
                <a:lnSpc>
                  <a:spcPts val="2659"/>
                </a:lnSpc>
              </a:pPr>
            </a:p>
          </p:txBody>
        </p:sp>
      </p:grpSp>
      <p:sp>
        <p:nvSpPr>
          <p:cNvPr name="Freeform 5" id="5">
            <a:extLst>
              <a:ext uri="{C183D7F6-B498-43B3-948B-1728B52AA6E4}">
                <adec:decorative xmlns:adec="http://schemas.microsoft.com/office/drawing/2017/decorative" val="1"/>
              </a:ext>
            </a:extLst>
          </p:cNvPr>
          <p:cNvSpPr/>
          <p:nvPr/>
        </p:nvSpPr>
        <p:spPr>
          <a:xfrm flipH="false" flipV="false" rot="0">
            <a:off x="-5247337" y="1151632"/>
            <a:ext cx="8786563" cy="9135368"/>
          </a:xfrm>
          <a:custGeom>
            <a:avLst/>
            <a:gdLst/>
            <a:ahLst/>
            <a:cxnLst/>
            <a:rect r="r" b="b" t="t" l="l"/>
            <a:pathLst>
              <a:path h="9135368" w="8786563">
                <a:moveTo>
                  <a:pt x="0" y="0"/>
                </a:moveTo>
                <a:lnTo>
                  <a:pt x="8786563" y="0"/>
                </a:lnTo>
                <a:lnTo>
                  <a:pt x="8786563" y="9135368"/>
                </a:lnTo>
                <a:lnTo>
                  <a:pt x="0" y="91353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710665" y="1492131"/>
            <a:ext cx="10489992" cy="1166509"/>
          </a:xfrm>
          <a:prstGeom prst="rect">
            <a:avLst/>
          </a:prstGeom>
        </p:spPr>
        <p:txBody>
          <a:bodyPr anchor="t" rtlCol="false" tIns="0" lIns="0" bIns="0" rIns="0">
            <a:spAutoFit/>
          </a:bodyPr>
          <a:lstStyle/>
          <a:p>
            <a:pPr algn="l">
              <a:lnSpc>
                <a:spcPts val="9426"/>
              </a:lnSpc>
              <a:spcBef>
                <a:spcPct val="0"/>
              </a:spcBef>
            </a:pPr>
            <a:r>
              <a:rPr lang="en-US" sz="6732" b="true">
                <a:solidFill>
                  <a:srgbClr val="F3F3EA"/>
                </a:solidFill>
                <a:latin typeface="Rasputin Bold"/>
                <a:ea typeface="Rasputin Bold"/>
                <a:cs typeface="Rasputin Bold"/>
                <a:sym typeface="Rasputin Bold"/>
              </a:rPr>
              <a:t>Technical Approach</a:t>
            </a:r>
          </a:p>
        </p:txBody>
      </p:sp>
      <p:grpSp>
        <p:nvGrpSpPr>
          <p:cNvPr name="Group 7" id="7"/>
          <p:cNvGrpSpPr/>
          <p:nvPr/>
        </p:nvGrpSpPr>
        <p:grpSpPr>
          <a:xfrm rot="0">
            <a:off x="15890057" y="8027346"/>
            <a:ext cx="2397943" cy="1313917"/>
            <a:chOff x="0" y="0"/>
            <a:chExt cx="631557" cy="346052"/>
          </a:xfrm>
        </p:grpSpPr>
        <p:sp>
          <p:nvSpPr>
            <p:cNvPr name="Freeform 8" id="8">
              <a:extLst>
                <a:ext uri="{C183D7F6-B498-43B3-948B-1728B52AA6E4}">
                  <adec:decorative xmlns:adec="http://schemas.microsoft.com/office/drawing/2017/decorative" val="1"/>
                </a:ext>
              </a:extLst>
            </p:cNvPr>
            <p:cNvSpPr/>
            <p:nvPr/>
          </p:nvSpPr>
          <p:spPr>
            <a:xfrm flipH="false" flipV="false" rot="0">
              <a:off x="0" y="0"/>
              <a:ext cx="631557" cy="346052"/>
            </a:xfrm>
            <a:custGeom>
              <a:avLst/>
              <a:gdLst/>
              <a:ahLst/>
              <a:cxnLst/>
              <a:rect r="r" b="b" t="t" l="l"/>
              <a:pathLst>
                <a:path h="346052" w="631557">
                  <a:moveTo>
                    <a:pt x="0" y="0"/>
                  </a:moveTo>
                  <a:lnTo>
                    <a:pt x="631557" y="0"/>
                  </a:lnTo>
                  <a:lnTo>
                    <a:pt x="631557" y="346052"/>
                  </a:lnTo>
                  <a:lnTo>
                    <a:pt x="0" y="346052"/>
                  </a:lnTo>
                  <a:close/>
                </a:path>
              </a:pathLst>
            </a:custGeom>
            <a:solidFill>
              <a:srgbClr val="CBC4AD"/>
            </a:solidFill>
          </p:spPr>
        </p:sp>
        <p:sp>
          <p:nvSpPr>
            <p:cNvPr name="TextBox 9" id="9"/>
            <p:cNvSpPr txBox="true"/>
            <p:nvPr/>
          </p:nvSpPr>
          <p:spPr>
            <a:xfrm>
              <a:off x="0" y="-38100"/>
              <a:ext cx="631557" cy="384152"/>
            </a:xfrm>
            <a:prstGeom prst="rect">
              <a:avLst/>
            </a:prstGeom>
          </p:spPr>
          <p:txBody>
            <a:bodyPr anchor="ctr" rtlCol="false" tIns="50800" lIns="50800" bIns="50800" rIns="50800"/>
            <a:lstStyle/>
            <a:p>
              <a:pPr algn="ctr">
                <a:lnSpc>
                  <a:spcPts val="2659"/>
                </a:lnSpc>
              </a:pPr>
            </a:p>
          </p:txBody>
        </p:sp>
      </p:grpSp>
      <p:sp>
        <p:nvSpPr>
          <p:cNvPr name="Freeform 10" id="10">
            <a:extLst>
              <a:ext uri="{C183D7F6-B498-43B3-948B-1728B52AA6E4}">
                <adec:decorative xmlns:adec="http://schemas.microsoft.com/office/drawing/2017/decorative" val="1"/>
              </a:ext>
            </a:extLst>
          </p:cNvPr>
          <p:cNvSpPr/>
          <p:nvPr/>
        </p:nvSpPr>
        <p:spPr>
          <a:xfrm flipH="false" flipV="false" rot="0">
            <a:off x="4132778" y="9480724"/>
            <a:ext cx="3935101" cy="608152"/>
          </a:xfrm>
          <a:custGeom>
            <a:avLst/>
            <a:gdLst/>
            <a:ahLst/>
            <a:cxnLst/>
            <a:rect r="r" b="b" t="t" l="l"/>
            <a:pathLst>
              <a:path h="608152" w="3935101">
                <a:moveTo>
                  <a:pt x="0" y="0"/>
                </a:moveTo>
                <a:lnTo>
                  <a:pt x="3935101" y="0"/>
                </a:lnTo>
                <a:lnTo>
                  <a:pt x="3935101" y="608152"/>
                </a:lnTo>
                <a:lnTo>
                  <a:pt x="0" y="6081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15781988" y="7960405"/>
            <a:ext cx="2506012" cy="1295400"/>
          </a:xfrm>
          <a:prstGeom prst="rect">
            <a:avLst/>
          </a:prstGeom>
        </p:spPr>
        <p:txBody>
          <a:bodyPr anchor="t" rtlCol="false" tIns="0" lIns="0" bIns="0" rIns="0">
            <a:spAutoFit/>
          </a:bodyPr>
          <a:lstStyle/>
          <a:p>
            <a:pPr algn="ctr">
              <a:lnSpc>
                <a:spcPts val="10500"/>
              </a:lnSpc>
              <a:spcBef>
                <a:spcPct val="0"/>
              </a:spcBef>
            </a:pPr>
            <a:r>
              <a:rPr lang="en-US" b="true" sz="7500">
                <a:solidFill>
                  <a:srgbClr val="F3F3EA"/>
                </a:solidFill>
                <a:latin typeface="Rasputin Bold"/>
                <a:ea typeface="Rasputin Bold"/>
                <a:cs typeface="Rasputin Bold"/>
                <a:sym typeface="Rasputin Bold"/>
              </a:rPr>
              <a:t>04</a:t>
            </a:r>
          </a:p>
        </p:txBody>
      </p:sp>
      <p:grpSp>
        <p:nvGrpSpPr>
          <p:cNvPr name="Group 12" id="12"/>
          <p:cNvGrpSpPr/>
          <p:nvPr/>
        </p:nvGrpSpPr>
        <p:grpSpPr>
          <a:xfrm rot="0">
            <a:off x="16816065" y="3994429"/>
            <a:ext cx="2943871" cy="294387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2C9A9"/>
            </a:solidFill>
          </p:spPr>
        </p:sp>
        <p:sp>
          <p:nvSpPr>
            <p:cNvPr name="TextBox 14" id="14"/>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3072797" y="-1471935"/>
            <a:ext cx="2943871" cy="294387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2C9A9"/>
            </a:solidFill>
          </p:spPr>
        </p:sp>
        <p:sp>
          <p:nvSpPr>
            <p:cNvPr name="TextBox 17" id="17"/>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1198404" y="3422822"/>
            <a:ext cx="16060896" cy="6471363"/>
          </a:xfrm>
          <a:prstGeom prst="rect">
            <a:avLst/>
          </a:prstGeom>
        </p:spPr>
        <p:txBody>
          <a:bodyPr anchor="t" rtlCol="false" tIns="0" lIns="0" bIns="0" rIns="0">
            <a:spAutoFit/>
          </a:bodyPr>
          <a:lstStyle/>
          <a:p>
            <a:pPr algn="just">
              <a:lnSpc>
                <a:spcPts val="3153"/>
              </a:lnSpc>
            </a:pPr>
            <a:r>
              <a:rPr lang="en-US" sz="3153">
                <a:solidFill>
                  <a:srgbClr val="443F2B"/>
                </a:solidFill>
                <a:latin typeface="Codec Pro"/>
                <a:ea typeface="Codec Pro"/>
                <a:cs typeface="Codec Pro"/>
                <a:sym typeface="Codec Pro"/>
              </a:rPr>
              <a:t>Coagulation tests analyzer:</a:t>
            </a:r>
          </a:p>
          <a:p>
            <a:pPr algn="just">
              <a:lnSpc>
                <a:spcPts val="3153"/>
              </a:lnSpc>
            </a:pPr>
            <a:r>
              <a:rPr lang="en-US" sz="3153">
                <a:solidFill>
                  <a:srgbClr val="443F2B"/>
                </a:solidFill>
                <a:latin typeface="Codec Pro"/>
                <a:ea typeface="Codec Pro"/>
                <a:cs typeface="Codec Pro"/>
                <a:sym typeface="Codec Pro"/>
              </a:rPr>
              <a:t>Upon being chosen by the user, the user is required to manually input raw data from their Coagulation test results. Mainly, their:</a:t>
            </a:r>
          </a:p>
          <a:p>
            <a:pPr algn="just">
              <a:lnSpc>
                <a:spcPts val="3153"/>
              </a:lnSpc>
            </a:pPr>
          </a:p>
          <a:p>
            <a:pPr algn="just">
              <a:lnSpc>
                <a:spcPts val="3153"/>
              </a:lnSpc>
            </a:pPr>
            <a:r>
              <a:rPr lang="en-US" sz="3153">
                <a:solidFill>
                  <a:srgbClr val="443F2B"/>
                </a:solidFill>
                <a:latin typeface="Codec Pro"/>
                <a:ea typeface="Codec Pro"/>
                <a:cs typeface="Codec Pro"/>
                <a:sym typeface="Codec Pro"/>
              </a:rPr>
              <a:t>INR: *Numerical Value with 1 decimal point*</a:t>
            </a:r>
          </a:p>
          <a:p>
            <a:pPr algn="just">
              <a:lnSpc>
                <a:spcPts val="3153"/>
              </a:lnSpc>
            </a:pPr>
            <a:r>
              <a:rPr lang="en-US" sz="3153">
                <a:solidFill>
                  <a:srgbClr val="443F2B"/>
                </a:solidFill>
                <a:latin typeface="Codec Pro"/>
                <a:ea typeface="Codec Pro"/>
                <a:cs typeface="Codec Pro"/>
                <a:sym typeface="Codec Pro"/>
              </a:rPr>
              <a:t>PT: _s</a:t>
            </a:r>
          </a:p>
          <a:p>
            <a:pPr algn="just">
              <a:lnSpc>
                <a:spcPts val="3153"/>
              </a:lnSpc>
            </a:pPr>
            <a:r>
              <a:rPr lang="en-US" sz="3153">
                <a:solidFill>
                  <a:srgbClr val="443F2B"/>
                </a:solidFill>
                <a:latin typeface="Codec Pro"/>
                <a:ea typeface="Codec Pro"/>
                <a:cs typeface="Codec Pro"/>
                <a:sym typeface="Codec Pro"/>
              </a:rPr>
              <a:t>D-Dimer: _ng/ml</a:t>
            </a:r>
          </a:p>
          <a:p>
            <a:pPr algn="just">
              <a:lnSpc>
                <a:spcPts val="3153"/>
              </a:lnSpc>
            </a:pPr>
          </a:p>
          <a:p>
            <a:pPr algn="just">
              <a:lnSpc>
                <a:spcPts val="3153"/>
              </a:lnSpc>
            </a:pPr>
            <a:r>
              <a:rPr lang="en-US" sz="3153">
                <a:solidFill>
                  <a:srgbClr val="443F2B"/>
                </a:solidFill>
                <a:latin typeface="Codec Pro"/>
                <a:ea typeface="Codec Pro"/>
                <a:cs typeface="Codec Pro"/>
                <a:sym typeface="Codec Pro"/>
              </a:rPr>
              <a:t>Once the user is done, they may enter the add data prompt given by the program. This directs the program to check if the given data is within the reference range with correlation to their profile for each parameter.</a:t>
            </a:r>
          </a:p>
          <a:p>
            <a:pPr algn="just">
              <a:lnSpc>
                <a:spcPts val="3153"/>
              </a:lnSpc>
            </a:pPr>
          </a:p>
          <a:p>
            <a:pPr algn="just">
              <a:lnSpc>
                <a:spcPts val="3153"/>
              </a:lnSpc>
            </a:pPr>
            <a:r>
              <a:rPr lang="en-US" sz="3153">
                <a:solidFill>
                  <a:srgbClr val="443F2B"/>
                </a:solidFill>
                <a:latin typeface="Codec Pro"/>
                <a:ea typeface="Codec Pro"/>
                <a:cs typeface="Codec Pro"/>
                <a:sym typeface="Codec Pro"/>
              </a:rPr>
              <a:t>The program will then give advice based on the user’s data, whether their results are normal, low, high, or abnormal.</a:t>
            </a:r>
          </a:p>
          <a:p>
            <a:pPr algn="just">
              <a:lnSpc>
                <a:spcPts val="3153"/>
              </a:lnSpc>
            </a:pPr>
          </a:p>
          <a:p>
            <a:pPr algn="just">
              <a:lnSpc>
                <a:spcPts val="3153"/>
              </a:lnSpc>
            </a:pPr>
            <a:r>
              <a:rPr lang="en-US" sz="3153">
                <a:solidFill>
                  <a:srgbClr val="443F2B"/>
                </a:solidFill>
                <a:latin typeface="Codec Pro"/>
                <a:ea typeface="Codec Pro"/>
                <a:cs typeface="Codec Pro"/>
                <a:sym typeface="Codec Pro"/>
              </a:rPr>
              <a:t>After output, a return menu prompt will appear.</a:t>
            </a:r>
          </a:p>
        </p:txBody>
      </p:sp>
    </p:spTree>
  </p:cSld>
  <p:clrMapOvr>
    <a:masterClrMapping/>
  </p:clrMapOvr>
  <p:transition spd="fast">
    <p:cover dir="l"/>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3F3EA"/>
        </a:solidFill>
      </p:bgPr>
    </p:bg>
    <p:spTree>
      <p:nvGrpSpPr>
        <p:cNvPr id="1" name=""/>
        <p:cNvGrpSpPr/>
        <p:nvPr/>
      </p:nvGrpSpPr>
      <p:grpSpPr>
        <a:xfrm>
          <a:off x="0" y="0"/>
          <a:ext cx="0" cy="0"/>
          <a:chOff x="0" y="0"/>
          <a:chExt cx="0" cy="0"/>
        </a:xfrm>
      </p:grpSpPr>
      <p:grpSp>
        <p:nvGrpSpPr>
          <p:cNvPr name="Group 2" id="2"/>
          <p:cNvGrpSpPr/>
          <p:nvPr/>
        </p:nvGrpSpPr>
        <p:grpSpPr>
          <a:xfrm rot="0">
            <a:off x="0" y="1028700"/>
            <a:ext cx="12200657" cy="2222672"/>
            <a:chOff x="0" y="0"/>
            <a:chExt cx="3213342" cy="585395"/>
          </a:xfrm>
        </p:grpSpPr>
        <p:sp>
          <p:nvSpPr>
            <p:cNvPr name="Freeform 3" id="3">
              <a:extLst>
                <a:ext uri="{C183D7F6-B498-43B3-948B-1728B52AA6E4}">
                  <adec:decorative xmlns:adec="http://schemas.microsoft.com/office/drawing/2017/decorative" val="1"/>
                </a:ext>
              </a:extLst>
            </p:cNvPr>
            <p:cNvSpPr/>
            <p:nvPr/>
          </p:nvSpPr>
          <p:spPr>
            <a:xfrm flipH="false" flipV="false" rot="0">
              <a:off x="0" y="0"/>
              <a:ext cx="3213342" cy="585395"/>
            </a:xfrm>
            <a:custGeom>
              <a:avLst/>
              <a:gdLst/>
              <a:ahLst/>
              <a:cxnLst/>
              <a:rect r="r" b="b" t="t" l="l"/>
              <a:pathLst>
                <a:path h="585395" w="3213342">
                  <a:moveTo>
                    <a:pt x="0" y="0"/>
                  </a:moveTo>
                  <a:lnTo>
                    <a:pt x="3213342" y="0"/>
                  </a:lnTo>
                  <a:lnTo>
                    <a:pt x="3213342" y="585395"/>
                  </a:lnTo>
                  <a:lnTo>
                    <a:pt x="0" y="585395"/>
                  </a:lnTo>
                  <a:close/>
                </a:path>
              </a:pathLst>
            </a:custGeom>
            <a:solidFill>
              <a:srgbClr val="726343"/>
            </a:solidFill>
          </p:spPr>
        </p:sp>
        <p:sp>
          <p:nvSpPr>
            <p:cNvPr name="TextBox 4" id="4"/>
            <p:cNvSpPr txBox="true"/>
            <p:nvPr/>
          </p:nvSpPr>
          <p:spPr>
            <a:xfrm>
              <a:off x="0" y="-38100"/>
              <a:ext cx="3213342" cy="623495"/>
            </a:xfrm>
            <a:prstGeom prst="rect">
              <a:avLst/>
            </a:prstGeom>
          </p:spPr>
          <p:txBody>
            <a:bodyPr anchor="ctr" rtlCol="false" tIns="50800" lIns="50800" bIns="50800" rIns="50800"/>
            <a:lstStyle/>
            <a:p>
              <a:pPr algn="ctr">
                <a:lnSpc>
                  <a:spcPts val="2659"/>
                </a:lnSpc>
              </a:pPr>
            </a:p>
          </p:txBody>
        </p:sp>
      </p:grpSp>
      <p:sp>
        <p:nvSpPr>
          <p:cNvPr name="Freeform 5" id="5">
            <a:extLst>
              <a:ext uri="{C183D7F6-B498-43B3-948B-1728B52AA6E4}">
                <adec:decorative xmlns:adec="http://schemas.microsoft.com/office/drawing/2017/decorative" val="1"/>
              </a:ext>
            </a:extLst>
          </p:cNvPr>
          <p:cNvSpPr/>
          <p:nvPr/>
        </p:nvSpPr>
        <p:spPr>
          <a:xfrm flipH="false" flipV="false" rot="0">
            <a:off x="-5247337" y="1151632"/>
            <a:ext cx="8786563" cy="9135368"/>
          </a:xfrm>
          <a:custGeom>
            <a:avLst/>
            <a:gdLst/>
            <a:ahLst/>
            <a:cxnLst/>
            <a:rect r="r" b="b" t="t" l="l"/>
            <a:pathLst>
              <a:path h="9135368" w="8786563">
                <a:moveTo>
                  <a:pt x="0" y="0"/>
                </a:moveTo>
                <a:lnTo>
                  <a:pt x="8786563" y="0"/>
                </a:lnTo>
                <a:lnTo>
                  <a:pt x="8786563" y="9135368"/>
                </a:lnTo>
                <a:lnTo>
                  <a:pt x="0" y="91353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710665" y="1492131"/>
            <a:ext cx="10489992" cy="1166509"/>
          </a:xfrm>
          <a:prstGeom prst="rect">
            <a:avLst/>
          </a:prstGeom>
        </p:spPr>
        <p:txBody>
          <a:bodyPr anchor="t" rtlCol="false" tIns="0" lIns="0" bIns="0" rIns="0">
            <a:spAutoFit/>
          </a:bodyPr>
          <a:lstStyle/>
          <a:p>
            <a:pPr algn="l">
              <a:lnSpc>
                <a:spcPts val="9426"/>
              </a:lnSpc>
              <a:spcBef>
                <a:spcPct val="0"/>
              </a:spcBef>
            </a:pPr>
            <a:r>
              <a:rPr lang="en-US" sz="6732" b="true">
                <a:solidFill>
                  <a:srgbClr val="F3F3EA"/>
                </a:solidFill>
                <a:latin typeface="Rasputin Bold"/>
                <a:ea typeface="Rasputin Bold"/>
                <a:cs typeface="Rasputin Bold"/>
                <a:sym typeface="Rasputin Bold"/>
              </a:rPr>
              <a:t>Technical Approach</a:t>
            </a:r>
          </a:p>
        </p:txBody>
      </p:sp>
      <p:grpSp>
        <p:nvGrpSpPr>
          <p:cNvPr name="Group 7" id="7"/>
          <p:cNvGrpSpPr/>
          <p:nvPr/>
        </p:nvGrpSpPr>
        <p:grpSpPr>
          <a:xfrm rot="0">
            <a:off x="15890057" y="8027346"/>
            <a:ext cx="2397943" cy="1313917"/>
            <a:chOff x="0" y="0"/>
            <a:chExt cx="631557" cy="346052"/>
          </a:xfrm>
        </p:grpSpPr>
        <p:sp>
          <p:nvSpPr>
            <p:cNvPr name="Freeform 8" id="8">
              <a:extLst>
                <a:ext uri="{C183D7F6-B498-43B3-948B-1728B52AA6E4}">
                  <adec:decorative xmlns:adec="http://schemas.microsoft.com/office/drawing/2017/decorative" val="1"/>
                </a:ext>
              </a:extLst>
            </p:cNvPr>
            <p:cNvSpPr/>
            <p:nvPr/>
          </p:nvSpPr>
          <p:spPr>
            <a:xfrm flipH="false" flipV="false" rot="0">
              <a:off x="0" y="0"/>
              <a:ext cx="631557" cy="346052"/>
            </a:xfrm>
            <a:custGeom>
              <a:avLst/>
              <a:gdLst/>
              <a:ahLst/>
              <a:cxnLst/>
              <a:rect r="r" b="b" t="t" l="l"/>
              <a:pathLst>
                <a:path h="346052" w="631557">
                  <a:moveTo>
                    <a:pt x="0" y="0"/>
                  </a:moveTo>
                  <a:lnTo>
                    <a:pt x="631557" y="0"/>
                  </a:lnTo>
                  <a:lnTo>
                    <a:pt x="631557" y="346052"/>
                  </a:lnTo>
                  <a:lnTo>
                    <a:pt x="0" y="346052"/>
                  </a:lnTo>
                  <a:close/>
                </a:path>
              </a:pathLst>
            </a:custGeom>
            <a:solidFill>
              <a:srgbClr val="CBC4AD"/>
            </a:solidFill>
          </p:spPr>
        </p:sp>
        <p:sp>
          <p:nvSpPr>
            <p:cNvPr name="TextBox 9" id="9"/>
            <p:cNvSpPr txBox="true"/>
            <p:nvPr/>
          </p:nvSpPr>
          <p:spPr>
            <a:xfrm>
              <a:off x="0" y="-38100"/>
              <a:ext cx="631557" cy="384152"/>
            </a:xfrm>
            <a:prstGeom prst="rect">
              <a:avLst/>
            </a:prstGeom>
          </p:spPr>
          <p:txBody>
            <a:bodyPr anchor="ctr" rtlCol="false" tIns="50800" lIns="50800" bIns="50800" rIns="50800"/>
            <a:lstStyle/>
            <a:p>
              <a:pPr algn="ctr">
                <a:lnSpc>
                  <a:spcPts val="2659"/>
                </a:lnSpc>
              </a:pPr>
            </a:p>
          </p:txBody>
        </p:sp>
      </p:grpSp>
      <p:sp>
        <p:nvSpPr>
          <p:cNvPr name="Freeform 10" id="10">
            <a:extLst>
              <a:ext uri="{C183D7F6-B498-43B3-948B-1728B52AA6E4}">
                <adec:decorative xmlns:adec="http://schemas.microsoft.com/office/drawing/2017/decorative" val="1"/>
              </a:ext>
            </a:extLst>
          </p:cNvPr>
          <p:cNvSpPr/>
          <p:nvPr/>
        </p:nvSpPr>
        <p:spPr>
          <a:xfrm flipH="false" flipV="false" rot="0">
            <a:off x="4132778" y="9480724"/>
            <a:ext cx="3935101" cy="608152"/>
          </a:xfrm>
          <a:custGeom>
            <a:avLst/>
            <a:gdLst/>
            <a:ahLst/>
            <a:cxnLst/>
            <a:rect r="r" b="b" t="t" l="l"/>
            <a:pathLst>
              <a:path h="608152" w="3935101">
                <a:moveTo>
                  <a:pt x="0" y="0"/>
                </a:moveTo>
                <a:lnTo>
                  <a:pt x="3935101" y="0"/>
                </a:lnTo>
                <a:lnTo>
                  <a:pt x="3935101" y="608152"/>
                </a:lnTo>
                <a:lnTo>
                  <a:pt x="0" y="6081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15781988" y="7960405"/>
            <a:ext cx="2506012" cy="1295400"/>
          </a:xfrm>
          <a:prstGeom prst="rect">
            <a:avLst/>
          </a:prstGeom>
        </p:spPr>
        <p:txBody>
          <a:bodyPr anchor="t" rtlCol="false" tIns="0" lIns="0" bIns="0" rIns="0">
            <a:spAutoFit/>
          </a:bodyPr>
          <a:lstStyle/>
          <a:p>
            <a:pPr algn="ctr">
              <a:lnSpc>
                <a:spcPts val="10500"/>
              </a:lnSpc>
              <a:spcBef>
                <a:spcPct val="0"/>
              </a:spcBef>
            </a:pPr>
            <a:r>
              <a:rPr lang="en-US" b="true" sz="7500">
                <a:solidFill>
                  <a:srgbClr val="F3F3EA"/>
                </a:solidFill>
                <a:latin typeface="Rasputin Bold"/>
                <a:ea typeface="Rasputin Bold"/>
                <a:cs typeface="Rasputin Bold"/>
                <a:sym typeface="Rasputin Bold"/>
              </a:rPr>
              <a:t>04</a:t>
            </a:r>
          </a:p>
        </p:txBody>
      </p:sp>
      <p:grpSp>
        <p:nvGrpSpPr>
          <p:cNvPr name="Group 12" id="12"/>
          <p:cNvGrpSpPr/>
          <p:nvPr/>
        </p:nvGrpSpPr>
        <p:grpSpPr>
          <a:xfrm rot="0">
            <a:off x="16816065" y="3994429"/>
            <a:ext cx="2943871" cy="294387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2C9A9"/>
            </a:solidFill>
          </p:spPr>
        </p:sp>
        <p:sp>
          <p:nvSpPr>
            <p:cNvPr name="TextBox 14" id="14"/>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3072797" y="-1471935"/>
            <a:ext cx="2943871" cy="294387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2C9A9"/>
            </a:solidFill>
          </p:spPr>
        </p:sp>
        <p:sp>
          <p:nvSpPr>
            <p:cNvPr name="TextBox 17" id="17"/>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1198404" y="3422822"/>
            <a:ext cx="16060896" cy="7671513"/>
          </a:xfrm>
          <a:prstGeom prst="rect">
            <a:avLst/>
          </a:prstGeom>
        </p:spPr>
        <p:txBody>
          <a:bodyPr anchor="t" rtlCol="false" tIns="0" lIns="0" bIns="0" rIns="0">
            <a:spAutoFit/>
          </a:bodyPr>
          <a:lstStyle/>
          <a:p>
            <a:pPr algn="just">
              <a:lnSpc>
                <a:spcPts val="3153"/>
              </a:lnSpc>
            </a:pPr>
            <a:r>
              <a:rPr lang="en-US" sz="3153">
                <a:solidFill>
                  <a:srgbClr val="443F2B"/>
                </a:solidFill>
                <a:latin typeface="Codec Pro"/>
                <a:ea typeface="Codec Pro"/>
                <a:cs typeface="Codec Pro"/>
                <a:sym typeface="Codec Pro"/>
              </a:rPr>
              <a:t>Thyroid Tests analyzer:</a:t>
            </a:r>
          </a:p>
          <a:p>
            <a:pPr algn="just">
              <a:lnSpc>
                <a:spcPts val="3153"/>
              </a:lnSpc>
            </a:pPr>
            <a:r>
              <a:rPr lang="en-US" sz="3153">
                <a:solidFill>
                  <a:srgbClr val="443F2B"/>
                </a:solidFill>
                <a:latin typeface="Codec Pro"/>
                <a:ea typeface="Codec Pro"/>
                <a:cs typeface="Codec Pro"/>
                <a:sym typeface="Codec Pro"/>
              </a:rPr>
              <a:t>Upon being chosen by the user, the user is required to manually input raw data from their Thyroid test results. Mainly, their:</a:t>
            </a:r>
          </a:p>
          <a:p>
            <a:pPr algn="just">
              <a:lnSpc>
                <a:spcPts val="3153"/>
              </a:lnSpc>
            </a:pPr>
          </a:p>
          <a:p>
            <a:pPr algn="just">
              <a:lnSpc>
                <a:spcPts val="3153"/>
              </a:lnSpc>
            </a:pPr>
            <a:r>
              <a:rPr lang="en-US" sz="3153">
                <a:solidFill>
                  <a:srgbClr val="443F2B"/>
                </a:solidFill>
                <a:latin typeface="Codec Pro"/>
                <a:ea typeface="Codec Pro"/>
                <a:cs typeface="Codec Pro"/>
                <a:sym typeface="Codec Pro"/>
              </a:rPr>
              <a:t>TSH: _mIU/L</a:t>
            </a:r>
          </a:p>
          <a:p>
            <a:pPr algn="just">
              <a:lnSpc>
                <a:spcPts val="3153"/>
              </a:lnSpc>
            </a:pPr>
            <a:r>
              <a:rPr lang="en-US" sz="3153">
                <a:solidFill>
                  <a:srgbClr val="443F2B"/>
                </a:solidFill>
                <a:latin typeface="Codec Pro"/>
                <a:ea typeface="Codec Pro"/>
                <a:cs typeface="Codec Pro"/>
                <a:sym typeface="Codec Pro"/>
              </a:rPr>
              <a:t>Free T4: _ng/dL </a:t>
            </a:r>
          </a:p>
          <a:p>
            <a:pPr algn="just">
              <a:lnSpc>
                <a:spcPts val="3153"/>
              </a:lnSpc>
            </a:pPr>
            <a:r>
              <a:rPr lang="en-US" sz="3153">
                <a:solidFill>
                  <a:srgbClr val="443F2B"/>
                </a:solidFill>
                <a:latin typeface="Codec Pro"/>
                <a:ea typeface="Codec Pro"/>
                <a:cs typeface="Codec Pro"/>
                <a:sym typeface="Codec Pro"/>
              </a:rPr>
              <a:t>Free T3: _pg/mL</a:t>
            </a:r>
          </a:p>
          <a:p>
            <a:pPr algn="just">
              <a:lnSpc>
                <a:spcPts val="3153"/>
              </a:lnSpc>
            </a:pPr>
            <a:r>
              <a:rPr lang="en-US" sz="3153">
                <a:solidFill>
                  <a:srgbClr val="443F2B"/>
                </a:solidFill>
                <a:latin typeface="Codec Pro"/>
                <a:ea typeface="Codec Pro"/>
                <a:cs typeface="Codec Pro"/>
                <a:sym typeface="Codec Pro"/>
              </a:rPr>
              <a:t>TPO Antibodies: _U/L</a:t>
            </a:r>
          </a:p>
          <a:p>
            <a:pPr algn="just">
              <a:lnSpc>
                <a:spcPts val="3153"/>
              </a:lnSpc>
            </a:pPr>
          </a:p>
          <a:p>
            <a:pPr algn="just">
              <a:lnSpc>
                <a:spcPts val="3153"/>
              </a:lnSpc>
            </a:pPr>
            <a:r>
              <a:rPr lang="en-US" sz="3153">
                <a:solidFill>
                  <a:srgbClr val="443F2B"/>
                </a:solidFill>
                <a:latin typeface="Codec Pro"/>
                <a:ea typeface="Codec Pro"/>
                <a:cs typeface="Codec Pro"/>
                <a:sym typeface="Codec Pro"/>
              </a:rPr>
              <a:t>Once the user is done, they may enter the add data prompt given by the program. This directs the program to check if the given data is within the reference range with correlation to their profile for each parameter.</a:t>
            </a:r>
          </a:p>
          <a:p>
            <a:pPr algn="just">
              <a:lnSpc>
                <a:spcPts val="3153"/>
              </a:lnSpc>
            </a:pPr>
          </a:p>
          <a:p>
            <a:pPr algn="just">
              <a:lnSpc>
                <a:spcPts val="3153"/>
              </a:lnSpc>
            </a:pPr>
            <a:r>
              <a:rPr lang="en-US" sz="3153">
                <a:solidFill>
                  <a:srgbClr val="443F2B"/>
                </a:solidFill>
                <a:latin typeface="Codec Pro"/>
                <a:ea typeface="Codec Pro"/>
                <a:cs typeface="Codec Pro"/>
                <a:sym typeface="Codec Pro"/>
              </a:rPr>
              <a:t>The program will then give advice based on the user’s data, whether their results are normal, low, high, or abnormal.</a:t>
            </a:r>
          </a:p>
          <a:p>
            <a:pPr algn="just">
              <a:lnSpc>
                <a:spcPts val="3153"/>
              </a:lnSpc>
            </a:pPr>
          </a:p>
          <a:p>
            <a:pPr algn="just">
              <a:lnSpc>
                <a:spcPts val="3153"/>
              </a:lnSpc>
            </a:pPr>
            <a:r>
              <a:rPr lang="en-US" sz="3153">
                <a:solidFill>
                  <a:srgbClr val="443F2B"/>
                </a:solidFill>
                <a:latin typeface="Codec Pro"/>
                <a:ea typeface="Codec Pro"/>
                <a:cs typeface="Codec Pro"/>
                <a:sym typeface="Codec Pro"/>
              </a:rPr>
              <a:t>After output, a return menu prompt will appear.</a:t>
            </a:r>
          </a:p>
          <a:p>
            <a:pPr algn="just">
              <a:lnSpc>
                <a:spcPts val="3153"/>
              </a:lnSpc>
            </a:pPr>
          </a:p>
          <a:p>
            <a:pPr algn="just">
              <a:lnSpc>
                <a:spcPts val="3153"/>
              </a:lnSpc>
            </a:pPr>
          </a:p>
        </p:txBody>
      </p:sp>
    </p:spTree>
  </p:cSld>
  <p:clrMapOvr>
    <a:masterClrMapping/>
  </p:clrMapOvr>
  <p:transition spd="fast">
    <p:cover dir="l"/>
  </p:transition>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3F3EA"/>
        </a:solidFill>
      </p:bgPr>
    </p:bg>
    <p:spTree>
      <p:nvGrpSpPr>
        <p:cNvPr id="1" name=""/>
        <p:cNvGrpSpPr/>
        <p:nvPr/>
      </p:nvGrpSpPr>
      <p:grpSpPr>
        <a:xfrm>
          <a:off x="0" y="0"/>
          <a:ext cx="0" cy="0"/>
          <a:chOff x="0" y="0"/>
          <a:chExt cx="0" cy="0"/>
        </a:xfrm>
      </p:grpSpPr>
      <p:grpSp>
        <p:nvGrpSpPr>
          <p:cNvPr name="Group 2" id="2"/>
          <p:cNvGrpSpPr/>
          <p:nvPr/>
        </p:nvGrpSpPr>
        <p:grpSpPr>
          <a:xfrm rot="0">
            <a:off x="0" y="1028700"/>
            <a:ext cx="12200657" cy="2222672"/>
            <a:chOff x="0" y="0"/>
            <a:chExt cx="3213342" cy="585395"/>
          </a:xfrm>
        </p:grpSpPr>
        <p:sp>
          <p:nvSpPr>
            <p:cNvPr name="Freeform 3" id="3">
              <a:extLst>
                <a:ext uri="{C183D7F6-B498-43B3-948B-1728B52AA6E4}">
                  <adec:decorative xmlns:adec="http://schemas.microsoft.com/office/drawing/2017/decorative" val="1"/>
                </a:ext>
              </a:extLst>
            </p:cNvPr>
            <p:cNvSpPr/>
            <p:nvPr/>
          </p:nvSpPr>
          <p:spPr>
            <a:xfrm flipH="false" flipV="false" rot="0">
              <a:off x="0" y="0"/>
              <a:ext cx="3213342" cy="585395"/>
            </a:xfrm>
            <a:custGeom>
              <a:avLst/>
              <a:gdLst/>
              <a:ahLst/>
              <a:cxnLst/>
              <a:rect r="r" b="b" t="t" l="l"/>
              <a:pathLst>
                <a:path h="585395" w="3213342">
                  <a:moveTo>
                    <a:pt x="0" y="0"/>
                  </a:moveTo>
                  <a:lnTo>
                    <a:pt x="3213342" y="0"/>
                  </a:lnTo>
                  <a:lnTo>
                    <a:pt x="3213342" y="585395"/>
                  </a:lnTo>
                  <a:lnTo>
                    <a:pt x="0" y="585395"/>
                  </a:lnTo>
                  <a:close/>
                </a:path>
              </a:pathLst>
            </a:custGeom>
            <a:solidFill>
              <a:srgbClr val="726343"/>
            </a:solidFill>
          </p:spPr>
        </p:sp>
        <p:sp>
          <p:nvSpPr>
            <p:cNvPr name="TextBox 4" id="4"/>
            <p:cNvSpPr txBox="true"/>
            <p:nvPr/>
          </p:nvSpPr>
          <p:spPr>
            <a:xfrm>
              <a:off x="0" y="-38100"/>
              <a:ext cx="3213342" cy="623495"/>
            </a:xfrm>
            <a:prstGeom prst="rect">
              <a:avLst/>
            </a:prstGeom>
          </p:spPr>
          <p:txBody>
            <a:bodyPr anchor="ctr" rtlCol="false" tIns="50800" lIns="50800" bIns="50800" rIns="50800"/>
            <a:lstStyle/>
            <a:p>
              <a:pPr algn="ctr">
                <a:lnSpc>
                  <a:spcPts val="2659"/>
                </a:lnSpc>
              </a:pPr>
            </a:p>
          </p:txBody>
        </p:sp>
      </p:grpSp>
      <p:sp>
        <p:nvSpPr>
          <p:cNvPr name="Freeform 5" id="5">
            <a:extLst>
              <a:ext uri="{C183D7F6-B498-43B3-948B-1728B52AA6E4}">
                <adec:decorative xmlns:adec="http://schemas.microsoft.com/office/drawing/2017/decorative" val="1"/>
              </a:ext>
            </a:extLst>
          </p:cNvPr>
          <p:cNvSpPr/>
          <p:nvPr/>
        </p:nvSpPr>
        <p:spPr>
          <a:xfrm flipH="false" flipV="false" rot="0">
            <a:off x="-5247337" y="1151632"/>
            <a:ext cx="8786563" cy="9135368"/>
          </a:xfrm>
          <a:custGeom>
            <a:avLst/>
            <a:gdLst/>
            <a:ahLst/>
            <a:cxnLst/>
            <a:rect r="r" b="b" t="t" l="l"/>
            <a:pathLst>
              <a:path h="9135368" w="8786563">
                <a:moveTo>
                  <a:pt x="0" y="0"/>
                </a:moveTo>
                <a:lnTo>
                  <a:pt x="8786563" y="0"/>
                </a:lnTo>
                <a:lnTo>
                  <a:pt x="8786563" y="9135368"/>
                </a:lnTo>
                <a:lnTo>
                  <a:pt x="0" y="91353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710665" y="1492131"/>
            <a:ext cx="10489992" cy="1166509"/>
          </a:xfrm>
          <a:prstGeom prst="rect">
            <a:avLst/>
          </a:prstGeom>
        </p:spPr>
        <p:txBody>
          <a:bodyPr anchor="t" rtlCol="false" tIns="0" lIns="0" bIns="0" rIns="0">
            <a:spAutoFit/>
          </a:bodyPr>
          <a:lstStyle/>
          <a:p>
            <a:pPr algn="l">
              <a:lnSpc>
                <a:spcPts val="9426"/>
              </a:lnSpc>
              <a:spcBef>
                <a:spcPct val="0"/>
              </a:spcBef>
            </a:pPr>
            <a:r>
              <a:rPr lang="en-US" sz="6732" b="true">
                <a:solidFill>
                  <a:srgbClr val="F3F3EA"/>
                </a:solidFill>
                <a:latin typeface="Rasputin Bold"/>
                <a:ea typeface="Rasputin Bold"/>
                <a:cs typeface="Rasputin Bold"/>
                <a:sym typeface="Rasputin Bold"/>
              </a:rPr>
              <a:t>Technical Approach</a:t>
            </a:r>
          </a:p>
        </p:txBody>
      </p:sp>
      <p:grpSp>
        <p:nvGrpSpPr>
          <p:cNvPr name="Group 7" id="7"/>
          <p:cNvGrpSpPr/>
          <p:nvPr/>
        </p:nvGrpSpPr>
        <p:grpSpPr>
          <a:xfrm rot="0">
            <a:off x="15890057" y="8027346"/>
            <a:ext cx="2397943" cy="1313917"/>
            <a:chOff x="0" y="0"/>
            <a:chExt cx="631557" cy="346052"/>
          </a:xfrm>
        </p:grpSpPr>
        <p:sp>
          <p:nvSpPr>
            <p:cNvPr name="Freeform 8" id="8">
              <a:extLst>
                <a:ext uri="{C183D7F6-B498-43B3-948B-1728B52AA6E4}">
                  <adec:decorative xmlns:adec="http://schemas.microsoft.com/office/drawing/2017/decorative" val="1"/>
                </a:ext>
              </a:extLst>
            </p:cNvPr>
            <p:cNvSpPr/>
            <p:nvPr/>
          </p:nvSpPr>
          <p:spPr>
            <a:xfrm flipH="false" flipV="false" rot="0">
              <a:off x="0" y="0"/>
              <a:ext cx="631557" cy="346052"/>
            </a:xfrm>
            <a:custGeom>
              <a:avLst/>
              <a:gdLst/>
              <a:ahLst/>
              <a:cxnLst/>
              <a:rect r="r" b="b" t="t" l="l"/>
              <a:pathLst>
                <a:path h="346052" w="631557">
                  <a:moveTo>
                    <a:pt x="0" y="0"/>
                  </a:moveTo>
                  <a:lnTo>
                    <a:pt x="631557" y="0"/>
                  </a:lnTo>
                  <a:lnTo>
                    <a:pt x="631557" y="346052"/>
                  </a:lnTo>
                  <a:lnTo>
                    <a:pt x="0" y="346052"/>
                  </a:lnTo>
                  <a:close/>
                </a:path>
              </a:pathLst>
            </a:custGeom>
            <a:solidFill>
              <a:srgbClr val="CBC4AD"/>
            </a:solidFill>
          </p:spPr>
        </p:sp>
        <p:sp>
          <p:nvSpPr>
            <p:cNvPr name="TextBox 9" id="9"/>
            <p:cNvSpPr txBox="true"/>
            <p:nvPr/>
          </p:nvSpPr>
          <p:spPr>
            <a:xfrm>
              <a:off x="0" y="-38100"/>
              <a:ext cx="631557" cy="384152"/>
            </a:xfrm>
            <a:prstGeom prst="rect">
              <a:avLst/>
            </a:prstGeom>
          </p:spPr>
          <p:txBody>
            <a:bodyPr anchor="ctr" rtlCol="false" tIns="50800" lIns="50800" bIns="50800" rIns="50800"/>
            <a:lstStyle/>
            <a:p>
              <a:pPr algn="ctr">
                <a:lnSpc>
                  <a:spcPts val="2659"/>
                </a:lnSpc>
              </a:pPr>
            </a:p>
          </p:txBody>
        </p:sp>
      </p:grpSp>
      <p:sp>
        <p:nvSpPr>
          <p:cNvPr name="Freeform 10" id="10">
            <a:extLst>
              <a:ext uri="{C183D7F6-B498-43B3-948B-1728B52AA6E4}">
                <adec:decorative xmlns:adec="http://schemas.microsoft.com/office/drawing/2017/decorative" val="1"/>
              </a:ext>
            </a:extLst>
          </p:cNvPr>
          <p:cNvSpPr/>
          <p:nvPr/>
        </p:nvSpPr>
        <p:spPr>
          <a:xfrm flipH="false" flipV="false" rot="0">
            <a:off x="4132778" y="9480724"/>
            <a:ext cx="3935101" cy="608152"/>
          </a:xfrm>
          <a:custGeom>
            <a:avLst/>
            <a:gdLst/>
            <a:ahLst/>
            <a:cxnLst/>
            <a:rect r="r" b="b" t="t" l="l"/>
            <a:pathLst>
              <a:path h="608152" w="3935101">
                <a:moveTo>
                  <a:pt x="0" y="0"/>
                </a:moveTo>
                <a:lnTo>
                  <a:pt x="3935101" y="0"/>
                </a:lnTo>
                <a:lnTo>
                  <a:pt x="3935101" y="608152"/>
                </a:lnTo>
                <a:lnTo>
                  <a:pt x="0" y="6081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15781988" y="7960405"/>
            <a:ext cx="2506012" cy="1295400"/>
          </a:xfrm>
          <a:prstGeom prst="rect">
            <a:avLst/>
          </a:prstGeom>
        </p:spPr>
        <p:txBody>
          <a:bodyPr anchor="t" rtlCol="false" tIns="0" lIns="0" bIns="0" rIns="0">
            <a:spAutoFit/>
          </a:bodyPr>
          <a:lstStyle/>
          <a:p>
            <a:pPr algn="ctr">
              <a:lnSpc>
                <a:spcPts val="10500"/>
              </a:lnSpc>
              <a:spcBef>
                <a:spcPct val="0"/>
              </a:spcBef>
            </a:pPr>
            <a:r>
              <a:rPr lang="en-US" b="true" sz="7500">
                <a:solidFill>
                  <a:srgbClr val="F3F3EA"/>
                </a:solidFill>
                <a:latin typeface="Rasputin Bold"/>
                <a:ea typeface="Rasputin Bold"/>
                <a:cs typeface="Rasputin Bold"/>
                <a:sym typeface="Rasputin Bold"/>
              </a:rPr>
              <a:t>04</a:t>
            </a:r>
          </a:p>
        </p:txBody>
      </p:sp>
      <p:grpSp>
        <p:nvGrpSpPr>
          <p:cNvPr name="Group 12" id="12"/>
          <p:cNvGrpSpPr/>
          <p:nvPr/>
        </p:nvGrpSpPr>
        <p:grpSpPr>
          <a:xfrm rot="0">
            <a:off x="16816065" y="3994429"/>
            <a:ext cx="2943871" cy="294387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2C9A9"/>
            </a:solidFill>
          </p:spPr>
        </p:sp>
        <p:sp>
          <p:nvSpPr>
            <p:cNvPr name="TextBox 14" id="14"/>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3072797" y="-1471935"/>
            <a:ext cx="2943871" cy="294387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2C9A9"/>
            </a:solidFill>
          </p:spPr>
        </p:sp>
        <p:sp>
          <p:nvSpPr>
            <p:cNvPr name="TextBox 17" id="17"/>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1198404" y="3422822"/>
            <a:ext cx="16060896" cy="7671513"/>
          </a:xfrm>
          <a:prstGeom prst="rect">
            <a:avLst/>
          </a:prstGeom>
        </p:spPr>
        <p:txBody>
          <a:bodyPr anchor="t" rtlCol="false" tIns="0" lIns="0" bIns="0" rIns="0">
            <a:spAutoFit/>
          </a:bodyPr>
          <a:lstStyle/>
          <a:p>
            <a:pPr algn="just">
              <a:lnSpc>
                <a:spcPts val="3153"/>
              </a:lnSpc>
            </a:pPr>
            <a:r>
              <a:rPr lang="en-US" sz="3153">
                <a:solidFill>
                  <a:srgbClr val="443F2B"/>
                </a:solidFill>
                <a:latin typeface="Codec Pro"/>
                <a:ea typeface="Codec Pro"/>
                <a:cs typeface="Codec Pro"/>
                <a:sym typeface="Codec Pro"/>
              </a:rPr>
              <a:t>Thyroid Tests analyzer:</a:t>
            </a:r>
          </a:p>
          <a:p>
            <a:pPr algn="just">
              <a:lnSpc>
                <a:spcPts val="3153"/>
              </a:lnSpc>
            </a:pPr>
            <a:r>
              <a:rPr lang="en-US" sz="3153">
                <a:solidFill>
                  <a:srgbClr val="443F2B"/>
                </a:solidFill>
                <a:latin typeface="Codec Pro"/>
                <a:ea typeface="Codec Pro"/>
                <a:cs typeface="Codec Pro"/>
                <a:sym typeface="Codec Pro"/>
              </a:rPr>
              <a:t>Upon being chosen by the user, the user is required to manually input raw data from their Thyroid test results. Mainly, their:</a:t>
            </a:r>
          </a:p>
          <a:p>
            <a:pPr algn="just">
              <a:lnSpc>
                <a:spcPts val="3153"/>
              </a:lnSpc>
            </a:pPr>
          </a:p>
          <a:p>
            <a:pPr algn="just">
              <a:lnSpc>
                <a:spcPts val="3153"/>
              </a:lnSpc>
            </a:pPr>
            <a:r>
              <a:rPr lang="en-US" sz="3153">
                <a:solidFill>
                  <a:srgbClr val="443F2B"/>
                </a:solidFill>
                <a:latin typeface="Codec Pro"/>
                <a:ea typeface="Codec Pro"/>
                <a:cs typeface="Codec Pro"/>
                <a:sym typeface="Codec Pro"/>
              </a:rPr>
              <a:t>TSH: _mIU/L</a:t>
            </a:r>
          </a:p>
          <a:p>
            <a:pPr algn="just">
              <a:lnSpc>
                <a:spcPts val="3153"/>
              </a:lnSpc>
            </a:pPr>
            <a:r>
              <a:rPr lang="en-US" sz="3153">
                <a:solidFill>
                  <a:srgbClr val="443F2B"/>
                </a:solidFill>
                <a:latin typeface="Codec Pro"/>
                <a:ea typeface="Codec Pro"/>
                <a:cs typeface="Codec Pro"/>
                <a:sym typeface="Codec Pro"/>
              </a:rPr>
              <a:t>Free T4: _ng/dL </a:t>
            </a:r>
          </a:p>
          <a:p>
            <a:pPr algn="just">
              <a:lnSpc>
                <a:spcPts val="3153"/>
              </a:lnSpc>
            </a:pPr>
            <a:r>
              <a:rPr lang="en-US" sz="3153">
                <a:solidFill>
                  <a:srgbClr val="443F2B"/>
                </a:solidFill>
                <a:latin typeface="Codec Pro"/>
                <a:ea typeface="Codec Pro"/>
                <a:cs typeface="Codec Pro"/>
                <a:sym typeface="Codec Pro"/>
              </a:rPr>
              <a:t>Free T3: _pg/mL</a:t>
            </a:r>
          </a:p>
          <a:p>
            <a:pPr algn="just">
              <a:lnSpc>
                <a:spcPts val="3153"/>
              </a:lnSpc>
            </a:pPr>
            <a:r>
              <a:rPr lang="en-US" sz="3153">
                <a:solidFill>
                  <a:srgbClr val="443F2B"/>
                </a:solidFill>
                <a:latin typeface="Codec Pro"/>
                <a:ea typeface="Codec Pro"/>
                <a:cs typeface="Codec Pro"/>
                <a:sym typeface="Codec Pro"/>
              </a:rPr>
              <a:t>TPO Antibodies: _U/L</a:t>
            </a:r>
          </a:p>
          <a:p>
            <a:pPr algn="just">
              <a:lnSpc>
                <a:spcPts val="3153"/>
              </a:lnSpc>
            </a:pPr>
          </a:p>
          <a:p>
            <a:pPr algn="just">
              <a:lnSpc>
                <a:spcPts val="3153"/>
              </a:lnSpc>
            </a:pPr>
            <a:r>
              <a:rPr lang="en-US" sz="3153">
                <a:solidFill>
                  <a:srgbClr val="443F2B"/>
                </a:solidFill>
                <a:latin typeface="Codec Pro"/>
                <a:ea typeface="Codec Pro"/>
                <a:cs typeface="Codec Pro"/>
                <a:sym typeface="Codec Pro"/>
              </a:rPr>
              <a:t>Once the user is done, they may enter the add data prompt given by the program. This directs the program to check if the given data is within the reference range with correlation to their profile for each parameter.</a:t>
            </a:r>
          </a:p>
          <a:p>
            <a:pPr algn="just">
              <a:lnSpc>
                <a:spcPts val="3153"/>
              </a:lnSpc>
            </a:pPr>
          </a:p>
          <a:p>
            <a:pPr algn="just">
              <a:lnSpc>
                <a:spcPts val="3153"/>
              </a:lnSpc>
            </a:pPr>
            <a:r>
              <a:rPr lang="en-US" sz="3153">
                <a:solidFill>
                  <a:srgbClr val="443F2B"/>
                </a:solidFill>
                <a:latin typeface="Codec Pro"/>
                <a:ea typeface="Codec Pro"/>
                <a:cs typeface="Codec Pro"/>
                <a:sym typeface="Codec Pro"/>
              </a:rPr>
              <a:t>The program will then give advice based on the user’s data, whether their results are normal, low, high, or abnormal.</a:t>
            </a:r>
          </a:p>
          <a:p>
            <a:pPr algn="just">
              <a:lnSpc>
                <a:spcPts val="3153"/>
              </a:lnSpc>
            </a:pPr>
          </a:p>
          <a:p>
            <a:pPr algn="just">
              <a:lnSpc>
                <a:spcPts val="3153"/>
              </a:lnSpc>
            </a:pPr>
            <a:r>
              <a:rPr lang="en-US" sz="3153">
                <a:solidFill>
                  <a:srgbClr val="443F2B"/>
                </a:solidFill>
                <a:latin typeface="Codec Pro"/>
                <a:ea typeface="Codec Pro"/>
                <a:cs typeface="Codec Pro"/>
                <a:sym typeface="Codec Pro"/>
              </a:rPr>
              <a:t>After output, a return menu prompt will appear.</a:t>
            </a:r>
          </a:p>
          <a:p>
            <a:pPr algn="just">
              <a:lnSpc>
                <a:spcPts val="3153"/>
              </a:lnSpc>
            </a:pPr>
          </a:p>
          <a:p>
            <a:pPr algn="just">
              <a:lnSpc>
                <a:spcPts val="3153"/>
              </a:lnSpc>
            </a:pPr>
          </a:p>
        </p:txBody>
      </p:sp>
    </p:spTree>
  </p:cSld>
  <p:clrMapOvr>
    <a:masterClrMapping/>
  </p:clrMapOvr>
  <p:transition spd="fast">
    <p:cover dir="l"/>
  </p:transition>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3F3EA"/>
        </a:solidFill>
      </p:bgPr>
    </p:bg>
    <p:spTree>
      <p:nvGrpSpPr>
        <p:cNvPr id="1" name=""/>
        <p:cNvGrpSpPr/>
        <p:nvPr/>
      </p:nvGrpSpPr>
      <p:grpSpPr>
        <a:xfrm>
          <a:off x="0" y="0"/>
          <a:ext cx="0" cy="0"/>
          <a:chOff x="0" y="0"/>
          <a:chExt cx="0" cy="0"/>
        </a:xfrm>
      </p:grpSpPr>
      <p:grpSp>
        <p:nvGrpSpPr>
          <p:cNvPr name="Group 2" id="2"/>
          <p:cNvGrpSpPr/>
          <p:nvPr/>
        </p:nvGrpSpPr>
        <p:grpSpPr>
          <a:xfrm rot="0">
            <a:off x="0" y="1028700"/>
            <a:ext cx="12200657" cy="2222672"/>
            <a:chOff x="0" y="0"/>
            <a:chExt cx="3213342" cy="585395"/>
          </a:xfrm>
        </p:grpSpPr>
        <p:sp>
          <p:nvSpPr>
            <p:cNvPr name="Freeform 3" id="3">
              <a:extLst>
                <a:ext uri="{C183D7F6-B498-43B3-948B-1728B52AA6E4}">
                  <adec:decorative xmlns:adec="http://schemas.microsoft.com/office/drawing/2017/decorative" val="1"/>
                </a:ext>
              </a:extLst>
            </p:cNvPr>
            <p:cNvSpPr/>
            <p:nvPr/>
          </p:nvSpPr>
          <p:spPr>
            <a:xfrm flipH="false" flipV="false" rot="0">
              <a:off x="0" y="0"/>
              <a:ext cx="3213342" cy="585395"/>
            </a:xfrm>
            <a:custGeom>
              <a:avLst/>
              <a:gdLst/>
              <a:ahLst/>
              <a:cxnLst/>
              <a:rect r="r" b="b" t="t" l="l"/>
              <a:pathLst>
                <a:path h="585395" w="3213342">
                  <a:moveTo>
                    <a:pt x="0" y="0"/>
                  </a:moveTo>
                  <a:lnTo>
                    <a:pt x="3213342" y="0"/>
                  </a:lnTo>
                  <a:lnTo>
                    <a:pt x="3213342" y="585395"/>
                  </a:lnTo>
                  <a:lnTo>
                    <a:pt x="0" y="585395"/>
                  </a:lnTo>
                  <a:close/>
                </a:path>
              </a:pathLst>
            </a:custGeom>
            <a:solidFill>
              <a:srgbClr val="726343"/>
            </a:solidFill>
          </p:spPr>
        </p:sp>
        <p:sp>
          <p:nvSpPr>
            <p:cNvPr name="TextBox 4" id="4"/>
            <p:cNvSpPr txBox="true"/>
            <p:nvPr/>
          </p:nvSpPr>
          <p:spPr>
            <a:xfrm>
              <a:off x="0" y="-38100"/>
              <a:ext cx="3213342" cy="623495"/>
            </a:xfrm>
            <a:prstGeom prst="rect">
              <a:avLst/>
            </a:prstGeom>
          </p:spPr>
          <p:txBody>
            <a:bodyPr anchor="ctr" rtlCol="false" tIns="50800" lIns="50800" bIns="50800" rIns="50800"/>
            <a:lstStyle/>
            <a:p>
              <a:pPr algn="ctr">
                <a:lnSpc>
                  <a:spcPts val="2659"/>
                </a:lnSpc>
              </a:pPr>
            </a:p>
          </p:txBody>
        </p:sp>
      </p:grpSp>
      <p:sp>
        <p:nvSpPr>
          <p:cNvPr name="Freeform 5" id="5">
            <a:extLst>
              <a:ext uri="{C183D7F6-B498-43B3-948B-1728B52AA6E4}">
                <adec:decorative xmlns:adec="http://schemas.microsoft.com/office/drawing/2017/decorative" val="1"/>
              </a:ext>
            </a:extLst>
          </p:cNvPr>
          <p:cNvSpPr/>
          <p:nvPr/>
        </p:nvSpPr>
        <p:spPr>
          <a:xfrm flipH="false" flipV="false" rot="0">
            <a:off x="-5247337" y="1151632"/>
            <a:ext cx="8786563" cy="9135368"/>
          </a:xfrm>
          <a:custGeom>
            <a:avLst/>
            <a:gdLst/>
            <a:ahLst/>
            <a:cxnLst/>
            <a:rect r="r" b="b" t="t" l="l"/>
            <a:pathLst>
              <a:path h="9135368" w="8786563">
                <a:moveTo>
                  <a:pt x="0" y="0"/>
                </a:moveTo>
                <a:lnTo>
                  <a:pt x="8786563" y="0"/>
                </a:lnTo>
                <a:lnTo>
                  <a:pt x="8786563" y="9135368"/>
                </a:lnTo>
                <a:lnTo>
                  <a:pt x="0" y="91353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710665" y="1492131"/>
            <a:ext cx="10489992" cy="1166509"/>
          </a:xfrm>
          <a:prstGeom prst="rect">
            <a:avLst/>
          </a:prstGeom>
        </p:spPr>
        <p:txBody>
          <a:bodyPr anchor="t" rtlCol="false" tIns="0" lIns="0" bIns="0" rIns="0">
            <a:spAutoFit/>
          </a:bodyPr>
          <a:lstStyle/>
          <a:p>
            <a:pPr algn="l">
              <a:lnSpc>
                <a:spcPts val="9426"/>
              </a:lnSpc>
              <a:spcBef>
                <a:spcPct val="0"/>
              </a:spcBef>
            </a:pPr>
            <a:r>
              <a:rPr lang="en-US" sz="6732" b="true">
                <a:solidFill>
                  <a:srgbClr val="F3F3EA"/>
                </a:solidFill>
                <a:latin typeface="Rasputin Bold"/>
                <a:ea typeface="Rasputin Bold"/>
                <a:cs typeface="Rasputin Bold"/>
                <a:sym typeface="Rasputin Bold"/>
              </a:rPr>
              <a:t>Technical Approach</a:t>
            </a:r>
          </a:p>
        </p:txBody>
      </p:sp>
      <p:grpSp>
        <p:nvGrpSpPr>
          <p:cNvPr name="Group 7" id="7"/>
          <p:cNvGrpSpPr/>
          <p:nvPr/>
        </p:nvGrpSpPr>
        <p:grpSpPr>
          <a:xfrm rot="0">
            <a:off x="15890057" y="8027346"/>
            <a:ext cx="2397943" cy="1313917"/>
            <a:chOff x="0" y="0"/>
            <a:chExt cx="631557" cy="346052"/>
          </a:xfrm>
        </p:grpSpPr>
        <p:sp>
          <p:nvSpPr>
            <p:cNvPr name="Freeform 8" id="8">
              <a:extLst>
                <a:ext uri="{C183D7F6-B498-43B3-948B-1728B52AA6E4}">
                  <adec:decorative xmlns:adec="http://schemas.microsoft.com/office/drawing/2017/decorative" val="1"/>
                </a:ext>
              </a:extLst>
            </p:cNvPr>
            <p:cNvSpPr/>
            <p:nvPr/>
          </p:nvSpPr>
          <p:spPr>
            <a:xfrm flipH="false" flipV="false" rot="0">
              <a:off x="0" y="0"/>
              <a:ext cx="631557" cy="346052"/>
            </a:xfrm>
            <a:custGeom>
              <a:avLst/>
              <a:gdLst/>
              <a:ahLst/>
              <a:cxnLst/>
              <a:rect r="r" b="b" t="t" l="l"/>
              <a:pathLst>
                <a:path h="346052" w="631557">
                  <a:moveTo>
                    <a:pt x="0" y="0"/>
                  </a:moveTo>
                  <a:lnTo>
                    <a:pt x="631557" y="0"/>
                  </a:lnTo>
                  <a:lnTo>
                    <a:pt x="631557" y="346052"/>
                  </a:lnTo>
                  <a:lnTo>
                    <a:pt x="0" y="346052"/>
                  </a:lnTo>
                  <a:close/>
                </a:path>
              </a:pathLst>
            </a:custGeom>
            <a:solidFill>
              <a:srgbClr val="CBC4AD"/>
            </a:solidFill>
          </p:spPr>
        </p:sp>
        <p:sp>
          <p:nvSpPr>
            <p:cNvPr name="TextBox 9" id="9"/>
            <p:cNvSpPr txBox="true"/>
            <p:nvPr/>
          </p:nvSpPr>
          <p:spPr>
            <a:xfrm>
              <a:off x="0" y="-38100"/>
              <a:ext cx="631557" cy="384152"/>
            </a:xfrm>
            <a:prstGeom prst="rect">
              <a:avLst/>
            </a:prstGeom>
          </p:spPr>
          <p:txBody>
            <a:bodyPr anchor="ctr" rtlCol="false" tIns="50800" lIns="50800" bIns="50800" rIns="50800"/>
            <a:lstStyle/>
            <a:p>
              <a:pPr algn="ctr">
                <a:lnSpc>
                  <a:spcPts val="2659"/>
                </a:lnSpc>
              </a:pPr>
            </a:p>
          </p:txBody>
        </p:sp>
      </p:grpSp>
      <p:sp>
        <p:nvSpPr>
          <p:cNvPr name="Freeform 10" id="10">
            <a:extLst>
              <a:ext uri="{C183D7F6-B498-43B3-948B-1728B52AA6E4}">
                <adec:decorative xmlns:adec="http://schemas.microsoft.com/office/drawing/2017/decorative" val="1"/>
              </a:ext>
            </a:extLst>
          </p:cNvPr>
          <p:cNvSpPr/>
          <p:nvPr/>
        </p:nvSpPr>
        <p:spPr>
          <a:xfrm flipH="false" flipV="false" rot="0">
            <a:off x="4132778" y="9480724"/>
            <a:ext cx="3935101" cy="608152"/>
          </a:xfrm>
          <a:custGeom>
            <a:avLst/>
            <a:gdLst/>
            <a:ahLst/>
            <a:cxnLst/>
            <a:rect r="r" b="b" t="t" l="l"/>
            <a:pathLst>
              <a:path h="608152" w="3935101">
                <a:moveTo>
                  <a:pt x="0" y="0"/>
                </a:moveTo>
                <a:lnTo>
                  <a:pt x="3935101" y="0"/>
                </a:lnTo>
                <a:lnTo>
                  <a:pt x="3935101" y="608152"/>
                </a:lnTo>
                <a:lnTo>
                  <a:pt x="0" y="6081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15781988" y="7960405"/>
            <a:ext cx="2506012" cy="1295400"/>
          </a:xfrm>
          <a:prstGeom prst="rect">
            <a:avLst/>
          </a:prstGeom>
        </p:spPr>
        <p:txBody>
          <a:bodyPr anchor="t" rtlCol="false" tIns="0" lIns="0" bIns="0" rIns="0">
            <a:spAutoFit/>
          </a:bodyPr>
          <a:lstStyle/>
          <a:p>
            <a:pPr algn="ctr">
              <a:lnSpc>
                <a:spcPts val="10500"/>
              </a:lnSpc>
              <a:spcBef>
                <a:spcPct val="0"/>
              </a:spcBef>
            </a:pPr>
            <a:r>
              <a:rPr lang="en-US" b="true" sz="7500">
                <a:solidFill>
                  <a:srgbClr val="F3F3EA"/>
                </a:solidFill>
                <a:latin typeface="Rasputin Bold"/>
                <a:ea typeface="Rasputin Bold"/>
                <a:cs typeface="Rasputin Bold"/>
                <a:sym typeface="Rasputin Bold"/>
              </a:rPr>
              <a:t>04</a:t>
            </a:r>
          </a:p>
        </p:txBody>
      </p:sp>
      <p:grpSp>
        <p:nvGrpSpPr>
          <p:cNvPr name="Group 12" id="12"/>
          <p:cNvGrpSpPr/>
          <p:nvPr/>
        </p:nvGrpSpPr>
        <p:grpSpPr>
          <a:xfrm rot="0">
            <a:off x="16816065" y="3994429"/>
            <a:ext cx="2943871" cy="294387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2C9A9"/>
            </a:solidFill>
          </p:spPr>
        </p:sp>
        <p:sp>
          <p:nvSpPr>
            <p:cNvPr name="TextBox 14" id="14"/>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3072797" y="-1471935"/>
            <a:ext cx="2943871" cy="294387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2C9A9"/>
            </a:solidFill>
          </p:spPr>
        </p:sp>
        <p:sp>
          <p:nvSpPr>
            <p:cNvPr name="TextBox 17" id="17"/>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1198404" y="3422822"/>
            <a:ext cx="16060896" cy="6071313"/>
          </a:xfrm>
          <a:prstGeom prst="rect">
            <a:avLst/>
          </a:prstGeom>
        </p:spPr>
        <p:txBody>
          <a:bodyPr anchor="t" rtlCol="false" tIns="0" lIns="0" bIns="0" rIns="0">
            <a:spAutoFit/>
          </a:bodyPr>
          <a:lstStyle/>
          <a:p>
            <a:pPr algn="just">
              <a:lnSpc>
                <a:spcPts val="3153"/>
              </a:lnSpc>
            </a:pPr>
            <a:r>
              <a:rPr lang="en-US" sz="3153">
                <a:solidFill>
                  <a:srgbClr val="443F2B"/>
                </a:solidFill>
                <a:latin typeface="Codec Pro"/>
                <a:ea typeface="Codec Pro"/>
                <a:cs typeface="Codec Pro"/>
                <a:sym typeface="Codec Pro"/>
              </a:rPr>
              <a:t>Kidney Functions analyzer:</a:t>
            </a:r>
          </a:p>
          <a:p>
            <a:pPr algn="just">
              <a:lnSpc>
                <a:spcPts val="3153"/>
              </a:lnSpc>
            </a:pPr>
            <a:r>
              <a:rPr lang="en-US" sz="3153">
                <a:solidFill>
                  <a:srgbClr val="443F2B"/>
                </a:solidFill>
                <a:latin typeface="Codec Pro"/>
                <a:ea typeface="Codec Pro"/>
                <a:cs typeface="Codec Pro"/>
                <a:sym typeface="Codec Pro"/>
              </a:rPr>
              <a:t>Upon being chosen by the user, the user is required to put their Glomerular Filtration Rate (GFR) and their age. </a:t>
            </a:r>
          </a:p>
          <a:p>
            <a:pPr algn="just">
              <a:lnSpc>
                <a:spcPts val="3153"/>
              </a:lnSpc>
            </a:pPr>
          </a:p>
          <a:p>
            <a:pPr algn="just">
              <a:lnSpc>
                <a:spcPts val="3153"/>
              </a:lnSpc>
            </a:pPr>
            <a:r>
              <a:rPr lang="en-US" sz="3153">
                <a:solidFill>
                  <a:srgbClr val="443F2B"/>
                </a:solidFill>
                <a:latin typeface="Codec Pro"/>
                <a:ea typeface="Codec Pro"/>
                <a:cs typeface="Codec Pro"/>
                <a:sym typeface="Codec Pro"/>
              </a:rPr>
              <a:t>GFR:___ mL/min/1.73 m²</a:t>
            </a:r>
          </a:p>
          <a:p>
            <a:pPr algn="just">
              <a:lnSpc>
                <a:spcPts val="3153"/>
              </a:lnSpc>
            </a:pPr>
          </a:p>
          <a:p>
            <a:pPr algn="just">
              <a:lnSpc>
                <a:spcPts val="3153"/>
              </a:lnSpc>
            </a:pPr>
            <a:r>
              <a:rPr lang="en-US" sz="3153">
                <a:solidFill>
                  <a:srgbClr val="443F2B"/>
                </a:solidFill>
                <a:latin typeface="Codec Pro"/>
                <a:ea typeface="Codec Pro"/>
                <a:cs typeface="Codec Pro"/>
                <a:sym typeface="Codec Pro"/>
              </a:rPr>
              <a:t>After doing so, the user should enter the “Analyze the GFR result”.</a:t>
            </a:r>
          </a:p>
          <a:p>
            <a:pPr algn="just">
              <a:lnSpc>
                <a:spcPts val="3153"/>
              </a:lnSpc>
            </a:pPr>
            <a:r>
              <a:rPr lang="en-US" sz="3153">
                <a:solidFill>
                  <a:srgbClr val="443F2B"/>
                </a:solidFill>
                <a:latin typeface="Codec Pro"/>
                <a:ea typeface="Codec Pro"/>
                <a:cs typeface="Codec Pro"/>
                <a:sym typeface="Codec Pro"/>
              </a:rPr>
              <a:t>Once doing so, the program will compare the GFR value given and the standard GFR amount based on the user’s age. </a:t>
            </a:r>
          </a:p>
          <a:p>
            <a:pPr algn="just">
              <a:lnSpc>
                <a:spcPts val="3153"/>
              </a:lnSpc>
            </a:pPr>
          </a:p>
          <a:p>
            <a:pPr algn="just">
              <a:lnSpc>
                <a:spcPts val="3153"/>
              </a:lnSpc>
            </a:pPr>
            <a:r>
              <a:rPr lang="en-US" sz="3153">
                <a:solidFill>
                  <a:srgbClr val="443F2B"/>
                </a:solidFill>
                <a:latin typeface="Codec Pro"/>
                <a:ea typeface="Codec Pro"/>
                <a:cs typeface="Codec Pro"/>
                <a:sym typeface="Codec Pro"/>
              </a:rPr>
              <a:t>The program will then give advice based on the user’s data, whether their results are normal, low, high, or abnormal.</a:t>
            </a:r>
          </a:p>
          <a:p>
            <a:pPr algn="just">
              <a:lnSpc>
                <a:spcPts val="3153"/>
              </a:lnSpc>
            </a:pPr>
          </a:p>
          <a:p>
            <a:pPr algn="just">
              <a:lnSpc>
                <a:spcPts val="3153"/>
              </a:lnSpc>
            </a:pPr>
            <a:r>
              <a:rPr lang="en-US" sz="3153">
                <a:solidFill>
                  <a:srgbClr val="443F2B"/>
                </a:solidFill>
                <a:latin typeface="Codec Pro"/>
                <a:ea typeface="Codec Pro"/>
                <a:cs typeface="Codec Pro"/>
                <a:sym typeface="Codec Pro"/>
              </a:rPr>
              <a:t>After output, a return menu prompt will appear.</a:t>
            </a:r>
          </a:p>
          <a:p>
            <a:pPr algn="just">
              <a:lnSpc>
                <a:spcPts val="3153"/>
              </a:lnSpc>
            </a:pPr>
          </a:p>
        </p:txBody>
      </p:sp>
    </p:spTree>
  </p:cSld>
  <p:clrMapOvr>
    <a:masterClrMapping/>
  </p:clrMapOvr>
  <p:transition spd="fast">
    <p:cover dir="l"/>
  </p:transition>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3F3EA"/>
        </a:solidFill>
      </p:bgPr>
    </p:bg>
    <p:spTree>
      <p:nvGrpSpPr>
        <p:cNvPr id="1" name=""/>
        <p:cNvGrpSpPr/>
        <p:nvPr/>
      </p:nvGrpSpPr>
      <p:grpSpPr>
        <a:xfrm>
          <a:off x="0" y="0"/>
          <a:ext cx="0" cy="0"/>
          <a:chOff x="0" y="0"/>
          <a:chExt cx="0" cy="0"/>
        </a:xfrm>
      </p:grpSpPr>
      <p:grpSp>
        <p:nvGrpSpPr>
          <p:cNvPr name="Group 2" id="2"/>
          <p:cNvGrpSpPr/>
          <p:nvPr/>
        </p:nvGrpSpPr>
        <p:grpSpPr>
          <a:xfrm rot="0">
            <a:off x="0" y="1028700"/>
            <a:ext cx="12200657" cy="2222672"/>
            <a:chOff x="0" y="0"/>
            <a:chExt cx="3213342" cy="585395"/>
          </a:xfrm>
        </p:grpSpPr>
        <p:sp>
          <p:nvSpPr>
            <p:cNvPr name="Freeform 3" id="3">
              <a:extLst>
                <a:ext uri="{C183D7F6-B498-43B3-948B-1728B52AA6E4}">
                  <adec:decorative xmlns:adec="http://schemas.microsoft.com/office/drawing/2017/decorative" val="1"/>
                </a:ext>
              </a:extLst>
            </p:cNvPr>
            <p:cNvSpPr/>
            <p:nvPr/>
          </p:nvSpPr>
          <p:spPr>
            <a:xfrm flipH="false" flipV="false" rot="0">
              <a:off x="0" y="0"/>
              <a:ext cx="3213342" cy="585395"/>
            </a:xfrm>
            <a:custGeom>
              <a:avLst/>
              <a:gdLst/>
              <a:ahLst/>
              <a:cxnLst/>
              <a:rect r="r" b="b" t="t" l="l"/>
              <a:pathLst>
                <a:path h="585395" w="3213342">
                  <a:moveTo>
                    <a:pt x="0" y="0"/>
                  </a:moveTo>
                  <a:lnTo>
                    <a:pt x="3213342" y="0"/>
                  </a:lnTo>
                  <a:lnTo>
                    <a:pt x="3213342" y="585395"/>
                  </a:lnTo>
                  <a:lnTo>
                    <a:pt x="0" y="585395"/>
                  </a:lnTo>
                  <a:close/>
                </a:path>
              </a:pathLst>
            </a:custGeom>
            <a:solidFill>
              <a:srgbClr val="726343"/>
            </a:solidFill>
          </p:spPr>
        </p:sp>
        <p:sp>
          <p:nvSpPr>
            <p:cNvPr name="TextBox 4" id="4"/>
            <p:cNvSpPr txBox="true"/>
            <p:nvPr/>
          </p:nvSpPr>
          <p:spPr>
            <a:xfrm>
              <a:off x="0" y="-38100"/>
              <a:ext cx="3213342" cy="623495"/>
            </a:xfrm>
            <a:prstGeom prst="rect">
              <a:avLst/>
            </a:prstGeom>
          </p:spPr>
          <p:txBody>
            <a:bodyPr anchor="ctr" rtlCol="false" tIns="50800" lIns="50800" bIns="50800" rIns="50800"/>
            <a:lstStyle/>
            <a:p>
              <a:pPr algn="ctr">
                <a:lnSpc>
                  <a:spcPts val="2659"/>
                </a:lnSpc>
              </a:pPr>
            </a:p>
          </p:txBody>
        </p:sp>
      </p:grpSp>
      <p:sp>
        <p:nvSpPr>
          <p:cNvPr name="Freeform 5" id="5">
            <a:extLst>
              <a:ext uri="{C183D7F6-B498-43B3-948B-1728B52AA6E4}">
                <adec:decorative xmlns:adec="http://schemas.microsoft.com/office/drawing/2017/decorative" val="1"/>
              </a:ext>
            </a:extLst>
          </p:cNvPr>
          <p:cNvSpPr/>
          <p:nvPr/>
        </p:nvSpPr>
        <p:spPr>
          <a:xfrm flipH="false" flipV="false" rot="0">
            <a:off x="-5247337" y="1151632"/>
            <a:ext cx="8786563" cy="9135368"/>
          </a:xfrm>
          <a:custGeom>
            <a:avLst/>
            <a:gdLst/>
            <a:ahLst/>
            <a:cxnLst/>
            <a:rect r="r" b="b" t="t" l="l"/>
            <a:pathLst>
              <a:path h="9135368" w="8786563">
                <a:moveTo>
                  <a:pt x="0" y="0"/>
                </a:moveTo>
                <a:lnTo>
                  <a:pt x="8786563" y="0"/>
                </a:lnTo>
                <a:lnTo>
                  <a:pt x="8786563" y="9135368"/>
                </a:lnTo>
                <a:lnTo>
                  <a:pt x="0" y="91353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710665" y="1492131"/>
            <a:ext cx="10489992" cy="1166509"/>
          </a:xfrm>
          <a:prstGeom prst="rect">
            <a:avLst/>
          </a:prstGeom>
        </p:spPr>
        <p:txBody>
          <a:bodyPr anchor="t" rtlCol="false" tIns="0" lIns="0" bIns="0" rIns="0">
            <a:spAutoFit/>
          </a:bodyPr>
          <a:lstStyle/>
          <a:p>
            <a:pPr algn="l">
              <a:lnSpc>
                <a:spcPts val="9426"/>
              </a:lnSpc>
              <a:spcBef>
                <a:spcPct val="0"/>
              </a:spcBef>
            </a:pPr>
            <a:r>
              <a:rPr lang="en-US" sz="6732" b="true">
                <a:solidFill>
                  <a:srgbClr val="F3F3EA"/>
                </a:solidFill>
                <a:latin typeface="Rasputin Bold"/>
                <a:ea typeface="Rasputin Bold"/>
                <a:cs typeface="Rasputin Bold"/>
                <a:sym typeface="Rasputin Bold"/>
              </a:rPr>
              <a:t>Technical Approach</a:t>
            </a:r>
          </a:p>
        </p:txBody>
      </p:sp>
      <p:grpSp>
        <p:nvGrpSpPr>
          <p:cNvPr name="Group 7" id="7"/>
          <p:cNvGrpSpPr/>
          <p:nvPr/>
        </p:nvGrpSpPr>
        <p:grpSpPr>
          <a:xfrm rot="0">
            <a:off x="15890057" y="8027346"/>
            <a:ext cx="2397943" cy="1313917"/>
            <a:chOff x="0" y="0"/>
            <a:chExt cx="631557" cy="346052"/>
          </a:xfrm>
        </p:grpSpPr>
        <p:sp>
          <p:nvSpPr>
            <p:cNvPr name="Freeform 8" id="8">
              <a:extLst>
                <a:ext uri="{C183D7F6-B498-43B3-948B-1728B52AA6E4}">
                  <adec:decorative xmlns:adec="http://schemas.microsoft.com/office/drawing/2017/decorative" val="1"/>
                </a:ext>
              </a:extLst>
            </p:cNvPr>
            <p:cNvSpPr/>
            <p:nvPr/>
          </p:nvSpPr>
          <p:spPr>
            <a:xfrm flipH="false" flipV="false" rot="0">
              <a:off x="0" y="0"/>
              <a:ext cx="631557" cy="346052"/>
            </a:xfrm>
            <a:custGeom>
              <a:avLst/>
              <a:gdLst/>
              <a:ahLst/>
              <a:cxnLst/>
              <a:rect r="r" b="b" t="t" l="l"/>
              <a:pathLst>
                <a:path h="346052" w="631557">
                  <a:moveTo>
                    <a:pt x="0" y="0"/>
                  </a:moveTo>
                  <a:lnTo>
                    <a:pt x="631557" y="0"/>
                  </a:lnTo>
                  <a:lnTo>
                    <a:pt x="631557" y="346052"/>
                  </a:lnTo>
                  <a:lnTo>
                    <a:pt x="0" y="346052"/>
                  </a:lnTo>
                  <a:close/>
                </a:path>
              </a:pathLst>
            </a:custGeom>
            <a:solidFill>
              <a:srgbClr val="CBC4AD"/>
            </a:solidFill>
          </p:spPr>
        </p:sp>
        <p:sp>
          <p:nvSpPr>
            <p:cNvPr name="TextBox 9" id="9"/>
            <p:cNvSpPr txBox="true"/>
            <p:nvPr/>
          </p:nvSpPr>
          <p:spPr>
            <a:xfrm>
              <a:off x="0" y="-38100"/>
              <a:ext cx="631557" cy="384152"/>
            </a:xfrm>
            <a:prstGeom prst="rect">
              <a:avLst/>
            </a:prstGeom>
          </p:spPr>
          <p:txBody>
            <a:bodyPr anchor="ctr" rtlCol="false" tIns="50800" lIns="50800" bIns="50800" rIns="50800"/>
            <a:lstStyle/>
            <a:p>
              <a:pPr algn="ctr">
                <a:lnSpc>
                  <a:spcPts val="2659"/>
                </a:lnSpc>
              </a:pPr>
            </a:p>
          </p:txBody>
        </p:sp>
      </p:grpSp>
      <p:sp>
        <p:nvSpPr>
          <p:cNvPr name="Freeform 10" id="10">
            <a:extLst>
              <a:ext uri="{C183D7F6-B498-43B3-948B-1728B52AA6E4}">
                <adec:decorative xmlns:adec="http://schemas.microsoft.com/office/drawing/2017/decorative" val="1"/>
              </a:ext>
            </a:extLst>
          </p:cNvPr>
          <p:cNvSpPr/>
          <p:nvPr/>
        </p:nvSpPr>
        <p:spPr>
          <a:xfrm flipH="false" flipV="false" rot="0">
            <a:off x="4132778" y="9480724"/>
            <a:ext cx="3935101" cy="608152"/>
          </a:xfrm>
          <a:custGeom>
            <a:avLst/>
            <a:gdLst/>
            <a:ahLst/>
            <a:cxnLst/>
            <a:rect r="r" b="b" t="t" l="l"/>
            <a:pathLst>
              <a:path h="608152" w="3935101">
                <a:moveTo>
                  <a:pt x="0" y="0"/>
                </a:moveTo>
                <a:lnTo>
                  <a:pt x="3935101" y="0"/>
                </a:lnTo>
                <a:lnTo>
                  <a:pt x="3935101" y="608152"/>
                </a:lnTo>
                <a:lnTo>
                  <a:pt x="0" y="6081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15781988" y="7960405"/>
            <a:ext cx="2506012" cy="1295400"/>
          </a:xfrm>
          <a:prstGeom prst="rect">
            <a:avLst/>
          </a:prstGeom>
        </p:spPr>
        <p:txBody>
          <a:bodyPr anchor="t" rtlCol="false" tIns="0" lIns="0" bIns="0" rIns="0">
            <a:spAutoFit/>
          </a:bodyPr>
          <a:lstStyle/>
          <a:p>
            <a:pPr algn="ctr">
              <a:lnSpc>
                <a:spcPts val="10500"/>
              </a:lnSpc>
              <a:spcBef>
                <a:spcPct val="0"/>
              </a:spcBef>
            </a:pPr>
            <a:r>
              <a:rPr lang="en-US" b="true" sz="7500">
                <a:solidFill>
                  <a:srgbClr val="F3F3EA"/>
                </a:solidFill>
                <a:latin typeface="Rasputin Bold"/>
                <a:ea typeface="Rasputin Bold"/>
                <a:cs typeface="Rasputin Bold"/>
                <a:sym typeface="Rasputin Bold"/>
              </a:rPr>
              <a:t>04</a:t>
            </a:r>
          </a:p>
        </p:txBody>
      </p:sp>
      <p:grpSp>
        <p:nvGrpSpPr>
          <p:cNvPr name="Group 12" id="12"/>
          <p:cNvGrpSpPr/>
          <p:nvPr/>
        </p:nvGrpSpPr>
        <p:grpSpPr>
          <a:xfrm rot="0">
            <a:off x="16816065" y="3994429"/>
            <a:ext cx="2943871" cy="294387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2C9A9"/>
            </a:solidFill>
          </p:spPr>
        </p:sp>
        <p:sp>
          <p:nvSpPr>
            <p:cNvPr name="TextBox 14" id="14"/>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3072797" y="-1471935"/>
            <a:ext cx="2943871" cy="294387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2C9A9"/>
            </a:solidFill>
          </p:spPr>
        </p:sp>
        <p:sp>
          <p:nvSpPr>
            <p:cNvPr name="TextBox 17" id="17"/>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1735053" y="3516363"/>
            <a:ext cx="14281614" cy="5739441"/>
          </a:xfrm>
          <a:prstGeom prst="rect">
            <a:avLst/>
          </a:prstGeom>
        </p:spPr>
        <p:txBody>
          <a:bodyPr anchor="t" rtlCol="false" tIns="0" lIns="0" bIns="0" rIns="0">
            <a:spAutoFit/>
          </a:bodyPr>
          <a:lstStyle/>
          <a:p>
            <a:pPr algn="just">
              <a:lnSpc>
                <a:spcPts val="4038"/>
              </a:lnSpc>
            </a:pPr>
          </a:p>
          <a:p>
            <a:pPr algn="just">
              <a:lnSpc>
                <a:spcPts val="4038"/>
              </a:lnSpc>
            </a:pPr>
            <a:r>
              <a:rPr lang="en-US" sz="4038">
                <a:solidFill>
                  <a:srgbClr val="443F2B"/>
                </a:solidFill>
                <a:latin typeface="Codec Pro"/>
                <a:ea typeface="Codec Pro"/>
                <a:cs typeface="Codec Pro"/>
                <a:sym typeface="Codec Pro"/>
              </a:rPr>
              <a:t>Exit option:</a:t>
            </a:r>
          </a:p>
          <a:p>
            <a:pPr algn="just">
              <a:lnSpc>
                <a:spcPts val="4038"/>
              </a:lnSpc>
            </a:pPr>
            <a:r>
              <a:rPr lang="en-US" sz="4038">
                <a:solidFill>
                  <a:srgbClr val="443F2B"/>
                </a:solidFill>
                <a:latin typeface="Codec Pro"/>
                <a:ea typeface="Codec Pro"/>
                <a:cs typeface="Codec Pro"/>
                <a:sym typeface="Codec Pro"/>
              </a:rPr>
              <a:t>After the system displays the result of a certain test, the program prompts the user with two choices: either to analyze another set of health tests or to exit the rest of the program. If the user selects the exit option, the program will terminate the analysis session by stopping further calculations, and displaying a confirmation message to exit the program. The exit option also appears in the menu, once chosen the same action will occur.</a:t>
            </a:r>
          </a:p>
          <a:p>
            <a:pPr algn="just">
              <a:lnSpc>
                <a:spcPts val="4038"/>
              </a:lnSpc>
            </a:pPr>
          </a:p>
        </p:txBody>
      </p:sp>
    </p:spTree>
  </p:cSld>
  <p:clrMapOvr>
    <a:masterClrMapping/>
  </p:clrMapOvr>
  <p:transition spd="fast">
    <p:cover dir="l"/>
  </p:transition>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3F3EA"/>
        </a:solidFill>
      </p:bgPr>
    </p:bg>
    <p:spTree>
      <p:nvGrpSpPr>
        <p:cNvPr id="1" name=""/>
        <p:cNvGrpSpPr/>
        <p:nvPr/>
      </p:nvGrpSpPr>
      <p:grpSpPr>
        <a:xfrm>
          <a:off x="0" y="0"/>
          <a:ext cx="0" cy="0"/>
          <a:chOff x="0" y="0"/>
          <a:chExt cx="0" cy="0"/>
        </a:xfrm>
      </p:grpSpPr>
      <p:grpSp>
        <p:nvGrpSpPr>
          <p:cNvPr name="Group 2" id="2"/>
          <p:cNvGrpSpPr/>
          <p:nvPr/>
        </p:nvGrpSpPr>
        <p:grpSpPr>
          <a:xfrm rot="0">
            <a:off x="0" y="1151632"/>
            <a:ext cx="8945791" cy="1990382"/>
            <a:chOff x="0" y="0"/>
            <a:chExt cx="2356093" cy="524216"/>
          </a:xfrm>
        </p:grpSpPr>
        <p:sp>
          <p:nvSpPr>
            <p:cNvPr name="Freeform 3" id="3">
              <a:extLst>
                <a:ext uri="{C183D7F6-B498-43B3-948B-1728B52AA6E4}">
                  <adec:decorative xmlns:adec="http://schemas.microsoft.com/office/drawing/2017/decorative" val="1"/>
                </a:ext>
              </a:extLst>
            </p:cNvPr>
            <p:cNvSpPr/>
            <p:nvPr/>
          </p:nvSpPr>
          <p:spPr>
            <a:xfrm flipH="false" flipV="false" rot="0">
              <a:off x="0" y="0"/>
              <a:ext cx="2356093" cy="524216"/>
            </a:xfrm>
            <a:custGeom>
              <a:avLst/>
              <a:gdLst/>
              <a:ahLst/>
              <a:cxnLst/>
              <a:rect r="r" b="b" t="t" l="l"/>
              <a:pathLst>
                <a:path h="524216" w="2356093">
                  <a:moveTo>
                    <a:pt x="0" y="0"/>
                  </a:moveTo>
                  <a:lnTo>
                    <a:pt x="2356093" y="0"/>
                  </a:lnTo>
                  <a:lnTo>
                    <a:pt x="2356093" y="524216"/>
                  </a:lnTo>
                  <a:lnTo>
                    <a:pt x="0" y="524216"/>
                  </a:lnTo>
                  <a:close/>
                </a:path>
              </a:pathLst>
            </a:custGeom>
            <a:solidFill>
              <a:srgbClr val="726343"/>
            </a:solidFill>
          </p:spPr>
        </p:sp>
        <p:sp>
          <p:nvSpPr>
            <p:cNvPr name="TextBox 4" id="4"/>
            <p:cNvSpPr txBox="true"/>
            <p:nvPr/>
          </p:nvSpPr>
          <p:spPr>
            <a:xfrm>
              <a:off x="0" y="-38100"/>
              <a:ext cx="2356093" cy="562316"/>
            </a:xfrm>
            <a:prstGeom prst="rect">
              <a:avLst/>
            </a:prstGeom>
          </p:spPr>
          <p:txBody>
            <a:bodyPr anchor="ctr" rtlCol="false" tIns="50800" lIns="50800" bIns="50800" rIns="50800"/>
            <a:lstStyle/>
            <a:p>
              <a:pPr algn="ctr">
                <a:lnSpc>
                  <a:spcPts val="2659"/>
                </a:lnSpc>
              </a:pPr>
            </a:p>
          </p:txBody>
        </p:sp>
      </p:grpSp>
      <p:sp>
        <p:nvSpPr>
          <p:cNvPr name="Freeform 5" id="5">
            <a:extLst>
              <a:ext uri="{C183D7F6-B498-43B3-948B-1728B52AA6E4}">
                <adec:decorative xmlns:adec="http://schemas.microsoft.com/office/drawing/2017/decorative" val="1"/>
              </a:ext>
            </a:extLst>
          </p:cNvPr>
          <p:cNvSpPr/>
          <p:nvPr/>
        </p:nvSpPr>
        <p:spPr>
          <a:xfrm flipH="true" flipV="false" rot="0">
            <a:off x="13894719" y="-416265"/>
            <a:ext cx="7803043" cy="8112805"/>
          </a:xfrm>
          <a:custGeom>
            <a:avLst/>
            <a:gdLst/>
            <a:ahLst/>
            <a:cxnLst/>
            <a:rect r="r" b="b" t="t" l="l"/>
            <a:pathLst>
              <a:path h="8112805" w="7803043">
                <a:moveTo>
                  <a:pt x="7803043" y="0"/>
                </a:moveTo>
                <a:lnTo>
                  <a:pt x="0" y="0"/>
                </a:lnTo>
                <a:lnTo>
                  <a:pt x="0" y="8112805"/>
                </a:lnTo>
                <a:lnTo>
                  <a:pt x="7803043" y="8112805"/>
                </a:lnTo>
                <a:lnTo>
                  <a:pt x="7803043"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432859" y="1492131"/>
            <a:ext cx="8080072" cy="1166509"/>
          </a:xfrm>
          <a:prstGeom prst="rect">
            <a:avLst/>
          </a:prstGeom>
        </p:spPr>
        <p:txBody>
          <a:bodyPr anchor="t" rtlCol="false" tIns="0" lIns="0" bIns="0" rIns="0">
            <a:spAutoFit/>
          </a:bodyPr>
          <a:lstStyle/>
          <a:p>
            <a:pPr algn="l">
              <a:lnSpc>
                <a:spcPts val="9426"/>
              </a:lnSpc>
              <a:spcBef>
                <a:spcPct val="0"/>
              </a:spcBef>
            </a:pPr>
            <a:r>
              <a:rPr lang="en-US" sz="6732" b="true">
                <a:solidFill>
                  <a:srgbClr val="F3F3EA"/>
                </a:solidFill>
                <a:latin typeface="Rasputin Bold"/>
                <a:ea typeface="Rasputin Bold"/>
                <a:cs typeface="Rasputin Bold"/>
                <a:sym typeface="Rasputin Bold"/>
              </a:rPr>
              <a:t>Code and Output</a:t>
            </a:r>
          </a:p>
        </p:txBody>
      </p:sp>
      <p:grpSp>
        <p:nvGrpSpPr>
          <p:cNvPr name="Group 7" id="7"/>
          <p:cNvGrpSpPr/>
          <p:nvPr/>
        </p:nvGrpSpPr>
        <p:grpSpPr>
          <a:xfrm rot="0">
            <a:off x="15890057" y="8027346"/>
            <a:ext cx="2397943" cy="1313917"/>
            <a:chOff x="0" y="0"/>
            <a:chExt cx="631557" cy="346052"/>
          </a:xfrm>
        </p:grpSpPr>
        <p:sp>
          <p:nvSpPr>
            <p:cNvPr name="Freeform 8" id="8">
              <a:extLst>
                <a:ext uri="{C183D7F6-B498-43B3-948B-1728B52AA6E4}">
                  <adec:decorative xmlns:adec="http://schemas.microsoft.com/office/drawing/2017/decorative" val="1"/>
                </a:ext>
              </a:extLst>
            </p:cNvPr>
            <p:cNvSpPr/>
            <p:nvPr/>
          </p:nvSpPr>
          <p:spPr>
            <a:xfrm flipH="false" flipV="false" rot="0">
              <a:off x="0" y="0"/>
              <a:ext cx="631557" cy="346052"/>
            </a:xfrm>
            <a:custGeom>
              <a:avLst/>
              <a:gdLst/>
              <a:ahLst/>
              <a:cxnLst/>
              <a:rect r="r" b="b" t="t" l="l"/>
              <a:pathLst>
                <a:path h="346052" w="631557">
                  <a:moveTo>
                    <a:pt x="0" y="0"/>
                  </a:moveTo>
                  <a:lnTo>
                    <a:pt x="631557" y="0"/>
                  </a:lnTo>
                  <a:lnTo>
                    <a:pt x="631557" y="346052"/>
                  </a:lnTo>
                  <a:lnTo>
                    <a:pt x="0" y="346052"/>
                  </a:lnTo>
                  <a:close/>
                </a:path>
              </a:pathLst>
            </a:custGeom>
            <a:solidFill>
              <a:srgbClr val="CBC4AD"/>
            </a:solidFill>
          </p:spPr>
        </p:sp>
        <p:sp>
          <p:nvSpPr>
            <p:cNvPr name="TextBox 9" id="9"/>
            <p:cNvSpPr txBox="true"/>
            <p:nvPr/>
          </p:nvSpPr>
          <p:spPr>
            <a:xfrm>
              <a:off x="0" y="-38100"/>
              <a:ext cx="631557" cy="384152"/>
            </a:xfrm>
            <a:prstGeom prst="rect">
              <a:avLst/>
            </a:prstGeom>
          </p:spPr>
          <p:txBody>
            <a:bodyPr anchor="ctr" rtlCol="false" tIns="50800" lIns="50800" bIns="50800" rIns="50800"/>
            <a:lstStyle/>
            <a:p>
              <a:pPr algn="ctr">
                <a:lnSpc>
                  <a:spcPts val="2659"/>
                </a:lnSpc>
              </a:pPr>
            </a:p>
          </p:txBody>
        </p:sp>
      </p:grpSp>
      <p:sp>
        <p:nvSpPr>
          <p:cNvPr name="Freeform 10" id="10">
            <a:extLst>
              <a:ext uri="{C183D7F6-B498-43B3-948B-1728B52AA6E4}">
                <adec:decorative xmlns:adec="http://schemas.microsoft.com/office/drawing/2017/decorative" val="1"/>
              </a:ext>
            </a:extLst>
          </p:cNvPr>
          <p:cNvSpPr/>
          <p:nvPr/>
        </p:nvSpPr>
        <p:spPr>
          <a:xfrm flipH="false" flipV="false" rot="0">
            <a:off x="1028700" y="9037187"/>
            <a:ext cx="3935101" cy="608152"/>
          </a:xfrm>
          <a:custGeom>
            <a:avLst/>
            <a:gdLst/>
            <a:ahLst/>
            <a:cxnLst/>
            <a:rect r="r" b="b" t="t" l="l"/>
            <a:pathLst>
              <a:path h="608152" w="3935101">
                <a:moveTo>
                  <a:pt x="0" y="0"/>
                </a:moveTo>
                <a:lnTo>
                  <a:pt x="3935101" y="0"/>
                </a:lnTo>
                <a:lnTo>
                  <a:pt x="3935101" y="608152"/>
                </a:lnTo>
                <a:lnTo>
                  <a:pt x="0" y="6081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15781988" y="7960405"/>
            <a:ext cx="2506012" cy="1295400"/>
          </a:xfrm>
          <a:prstGeom prst="rect">
            <a:avLst/>
          </a:prstGeom>
        </p:spPr>
        <p:txBody>
          <a:bodyPr anchor="t" rtlCol="false" tIns="0" lIns="0" bIns="0" rIns="0">
            <a:spAutoFit/>
          </a:bodyPr>
          <a:lstStyle/>
          <a:p>
            <a:pPr algn="ctr">
              <a:lnSpc>
                <a:spcPts val="10500"/>
              </a:lnSpc>
              <a:spcBef>
                <a:spcPct val="0"/>
              </a:spcBef>
            </a:pPr>
            <a:r>
              <a:rPr lang="en-US" b="true" sz="7500">
                <a:solidFill>
                  <a:srgbClr val="F3F3EA"/>
                </a:solidFill>
                <a:latin typeface="Rasputin Bold"/>
                <a:ea typeface="Rasputin Bold"/>
                <a:cs typeface="Rasputin Bold"/>
                <a:sym typeface="Rasputin Bold"/>
              </a:rPr>
              <a:t>05</a:t>
            </a:r>
          </a:p>
        </p:txBody>
      </p:sp>
      <p:sp>
        <p:nvSpPr>
          <p:cNvPr name="TextBox 12" id="12"/>
          <p:cNvSpPr txBox="true"/>
          <p:nvPr/>
        </p:nvSpPr>
        <p:spPr>
          <a:xfrm rot="0">
            <a:off x="4228288" y="3418358"/>
            <a:ext cx="9831425" cy="4493024"/>
          </a:xfrm>
          <a:prstGeom prst="rect">
            <a:avLst/>
          </a:prstGeom>
        </p:spPr>
        <p:txBody>
          <a:bodyPr anchor="t" rtlCol="false" tIns="0" lIns="0" bIns="0" rIns="0">
            <a:spAutoFit/>
          </a:bodyPr>
          <a:lstStyle/>
          <a:p>
            <a:pPr algn="just">
              <a:lnSpc>
                <a:spcPts val="34039"/>
              </a:lnSpc>
              <a:spcBef>
                <a:spcPct val="0"/>
              </a:spcBef>
            </a:pPr>
            <a:r>
              <a:rPr lang="en-US" sz="24314">
                <a:solidFill>
                  <a:srgbClr val="443F2B"/>
                </a:solidFill>
                <a:latin typeface="Codec Pro"/>
                <a:ea typeface="Codec Pro"/>
                <a:cs typeface="Codec Pro"/>
                <a:sym typeface="Codec Pro"/>
              </a:rPr>
              <a:t>CODE</a:t>
            </a:r>
          </a:p>
        </p:txBody>
      </p:sp>
    </p:spTree>
  </p:cSld>
  <p:clrMapOvr>
    <a:masterClrMapping/>
  </p:clrMapOvr>
  <p:transition spd="fast">
    <p:cover dir="l"/>
  </p:transition>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3F3EA"/>
        </a:solidFill>
      </p:bgPr>
    </p:bg>
    <p:spTree>
      <p:nvGrpSpPr>
        <p:cNvPr id="1" name=""/>
        <p:cNvGrpSpPr/>
        <p:nvPr/>
      </p:nvGrpSpPr>
      <p:grpSpPr>
        <a:xfrm>
          <a:off x="0" y="0"/>
          <a:ext cx="0" cy="0"/>
          <a:chOff x="0" y="0"/>
          <a:chExt cx="0" cy="0"/>
        </a:xfrm>
      </p:grpSpPr>
      <p:grpSp>
        <p:nvGrpSpPr>
          <p:cNvPr name="Group 2" id="2"/>
          <p:cNvGrpSpPr/>
          <p:nvPr/>
        </p:nvGrpSpPr>
        <p:grpSpPr>
          <a:xfrm rot="0">
            <a:off x="-443154" y="7789108"/>
            <a:ext cx="18731154" cy="1469192"/>
            <a:chOff x="0" y="0"/>
            <a:chExt cx="4933308" cy="386948"/>
          </a:xfrm>
        </p:grpSpPr>
        <p:sp>
          <p:nvSpPr>
            <p:cNvPr name="Freeform 3" id="3">
              <a:extLst>
                <a:ext uri="{C183D7F6-B498-43B3-948B-1728B52AA6E4}">
                  <adec:decorative xmlns:adec="http://schemas.microsoft.com/office/drawing/2017/decorative" val="1"/>
                </a:ext>
              </a:extLst>
            </p:cNvPr>
            <p:cNvSpPr/>
            <p:nvPr/>
          </p:nvSpPr>
          <p:spPr>
            <a:xfrm flipH="false" flipV="false" rot="0">
              <a:off x="0" y="0"/>
              <a:ext cx="4933308" cy="386948"/>
            </a:xfrm>
            <a:custGeom>
              <a:avLst/>
              <a:gdLst/>
              <a:ahLst/>
              <a:cxnLst/>
              <a:rect r="r" b="b" t="t" l="l"/>
              <a:pathLst>
                <a:path h="386948" w="4933308">
                  <a:moveTo>
                    <a:pt x="0" y="0"/>
                  </a:moveTo>
                  <a:lnTo>
                    <a:pt x="4933308" y="0"/>
                  </a:lnTo>
                  <a:lnTo>
                    <a:pt x="4933308" y="386948"/>
                  </a:lnTo>
                  <a:lnTo>
                    <a:pt x="0" y="386948"/>
                  </a:lnTo>
                  <a:close/>
                </a:path>
              </a:pathLst>
            </a:custGeom>
            <a:solidFill>
              <a:srgbClr val="726343"/>
            </a:solidFill>
          </p:spPr>
        </p:sp>
        <p:sp>
          <p:nvSpPr>
            <p:cNvPr name="TextBox 4" id="4"/>
            <p:cNvSpPr txBox="true"/>
            <p:nvPr/>
          </p:nvSpPr>
          <p:spPr>
            <a:xfrm>
              <a:off x="0" y="-38100"/>
              <a:ext cx="4933308" cy="425048"/>
            </a:xfrm>
            <a:prstGeom prst="rect">
              <a:avLst/>
            </a:prstGeom>
          </p:spPr>
          <p:txBody>
            <a:bodyPr anchor="ctr" rtlCol="false" tIns="50800" lIns="50800" bIns="50800" rIns="50800"/>
            <a:lstStyle/>
            <a:p>
              <a:pPr algn="ctr">
                <a:lnSpc>
                  <a:spcPts val="2659"/>
                </a:lnSpc>
              </a:pPr>
            </a:p>
          </p:txBody>
        </p:sp>
      </p:grpSp>
      <p:sp>
        <p:nvSpPr>
          <p:cNvPr name="Freeform 5" id="5">
            <a:extLst>
              <a:ext uri="{C183D7F6-B498-43B3-948B-1728B52AA6E4}">
                <adec:decorative xmlns:adec="http://schemas.microsoft.com/office/drawing/2017/decorative" val="1"/>
              </a:ext>
            </a:extLst>
          </p:cNvPr>
          <p:cNvSpPr/>
          <p:nvPr/>
        </p:nvSpPr>
        <p:spPr>
          <a:xfrm flipH="false" flipV="false" rot="0">
            <a:off x="7176450" y="7485032"/>
            <a:ext cx="3935101" cy="608152"/>
          </a:xfrm>
          <a:custGeom>
            <a:avLst/>
            <a:gdLst/>
            <a:ahLst/>
            <a:cxnLst/>
            <a:rect r="r" b="b" t="t" l="l"/>
            <a:pathLst>
              <a:path h="608152" w="3935101">
                <a:moveTo>
                  <a:pt x="0" y="0"/>
                </a:moveTo>
                <a:lnTo>
                  <a:pt x="3935100" y="0"/>
                </a:lnTo>
                <a:lnTo>
                  <a:pt x="3935100" y="608152"/>
                </a:lnTo>
                <a:lnTo>
                  <a:pt x="0" y="6081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a:extLst>
              <a:ext uri="{C183D7F6-B498-43B3-948B-1728B52AA6E4}">
                <adec:decorative xmlns:adec="http://schemas.microsoft.com/office/drawing/2017/decorative" val="1"/>
              </a:ext>
            </a:extLst>
          </p:cNvPr>
          <p:cNvSpPr/>
          <p:nvPr/>
        </p:nvSpPr>
        <p:spPr>
          <a:xfrm flipH="false" flipV="false" rot="0">
            <a:off x="-3449886" y="0"/>
            <a:ext cx="7491706" cy="7789108"/>
          </a:xfrm>
          <a:custGeom>
            <a:avLst/>
            <a:gdLst/>
            <a:ahLst/>
            <a:cxnLst/>
            <a:rect r="r" b="b" t="t" l="l"/>
            <a:pathLst>
              <a:path h="7789108" w="7491706">
                <a:moveTo>
                  <a:pt x="0" y="0"/>
                </a:moveTo>
                <a:lnTo>
                  <a:pt x="7491706" y="0"/>
                </a:lnTo>
                <a:lnTo>
                  <a:pt x="7491706" y="7789108"/>
                </a:lnTo>
                <a:lnTo>
                  <a:pt x="0" y="778910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4228276" y="2648888"/>
            <a:ext cx="10316456" cy="1725481"/>
          </a:xfrm>
          <a:prstGeom prst="rect">
            <a:avLst/>
          </a:prstGeom>
        </p:spPr>
        <p:txBody>
          <a:bodyPr anchor="t" rtlCol="false" tIns="0" lIns="0" bIns="0" rIns="0">
            <a:spAutoFit/>
          </a:bodyPr>
          <a:lstStyle/>
          <a:p>
            <a:pPr algn="l">
              <a:lnSpc>
                <a:spcPts val="12939"/>
              </a:lnSpc>
            </a:pPr>
            <a:r>
              <a:rPr lang="en-US" sz="12811" b="true">
                <a:solidFill>
                  <a:srgbClr val="443F2B"/>
                </a:solidFill>
                <a:latin typeface="Rasputin Bold"/>
                <a:ea typeface="Rasputin Bold"/>
                <a:cs typeface="Rasputin Bold"/>
                <a:sym typeface="Rasputin Bold"/>
              </a:rPr>
              <a:t>Thank You</a:t>
            </a:r>
          </a:p>
        </p:txBody>
      </p:sp>
      <p:grpSp>
        <p:nvGrpSpPr>
          <p:cNvPr name="Group 8" id="8"/>
          <p:cNvGrpSpPr/>
          <p:nvPr/>
        </p:nvGrpSpPr>
        <p:grpSpPr>
          <a:xfrm rot="0">
            <a:off x="15542597" y="-655415"/>
            <a:ext cx="2943871" cy="294387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2C9A9"/>
            </a:solidFill>
          </p:spPr>
        </p:sp>
        <p:sp>
          <p:nvSpPr>
            <p:cNvPr name="TextBox 10" id="10"/>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3072797" y="-1471935"/>
            <a:ext cx="2943871" cy="294387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2C9A9"/>
            </a:solidFill>
          </p:spPr>
        </p:sp>
        <p:sp>
          <p:nvSpPr>
            <p:cNvPr name="TextBox 13" id="13"/>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7531052" y="1028700"/>
            <a:ext cx="2943871" cy="2943871"/>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2C9A9"/>
            </a:solidFill>
          </p:spPr>
        </p:sp>
        <p:sp>
          <p:nvSpPr>
            <p:cNvPr name="TextBox 16" id="16"/>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Tree>
  </p:cSld>
  <p:clrMapOvr>
    <a:masterClrMapping/>
  </p:clrMapOvr>
  <p:transition spd="fast">
    <p:cover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DAHHLzJjf7A</dc:identifier>
  <dcterms:modified xsi:type="dcterms:W3CDTF">2011-08-01T06:04:30Z</dcterms:modified>
  <cp:revision>1</cp:revision>
  <dc:title>CS Defense Presentation</dc:title>
</cp:coreProperties>
</file>